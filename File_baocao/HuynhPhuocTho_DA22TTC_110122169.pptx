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9"/>
  </p:notesMasterIdLst>
  <p:handoutMasterIdLst>
    <p:handoutMasterId r:id="rId20"/>
  </p:handoutMasterIdLst>
  <p:sldIdLst>
    <p:sldId id="256" r:id="rId3"/>
    <p:sldId id="257" r:id="rId4"/>
    <p:sldId id="310" r:id="rId5"/>
    <p:sldId id="258" r:id="rId6"/>
    <p:sldId id="279" r:id="rId7"/>
    <p:sldId id="259" r:id="rId8"/>
    <p:sldId id="307" r:id="rId9"/>
    <p:sldId id="311" r:id="rId10"/>
    <p:sldId id="312" r:id="rId11"/>
    <p:sldId id="313" r:id="rId12"/>
    <p:sldId id="314" r:id="rId13"/>
    <p:sldId id="315" r:id="rId14"/>
    <p:sldId id="316" r:id="rId15"/>
    <p:sldId id="309" r:id="rId16"/>
    <p:sldId id="275" r:id="rId17"/>
    <p:sldId id="272" r:id="rId18"/>
  </p:sldIdLst>
  <p:sldSz cx="9144000" cy="6858000" type="screen4x3"/>
  <p:notesSz cx="6858000" cy="9144000"/>
  <p:custDataLst>
    <p:tags r:id="rId21"/>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FF3300"/>
    <a:srgbClr val="996633"/>
    <a:srgbClr val="FFFF00"/>
    <a:srgbClr val="CC3300"/>
    <a:srgbClr val="99CC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0"/>
    <p:restoredTop sz="94660"/>
  </p:normalViewPr>
  <p:slideViewPr>
    <p:cSldViewPr showGuides="1">
      <p:cViewPr varScale="1">
        <p:scale>
          <a:sx n="78" d="100"/>
          <a:sy n="78" d="100"/>
        </p:scale>
        <p:origin x="159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253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253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253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8693551-2736-4530-ABA7-7644E748DD81}" type="slidenum">
              <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a:t>
            </a:fld>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51D47F41-11BD-47FE-A380-C25E00579970}" type="slidenum">
              <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a:t>
            </a:fld>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2050" name="Picture 6"/>
          <p:cNvPicPr>
            <a:picLocks noChangeAspect="1"/>
          </p:cNvPicPr>
          <p:nvPr userDrawn="1"/>
        </p:nvPicPr>
        <p:blipFill>
          <a:blip r:embed="rId2"/>
          <a:stretch>
            <a:fillRect/>
          </a:stretch>
        </p:blipFill>
        <p:spPr>
          <a:xfrm>
            <a:off x="0" y="6286500"/>
            <a:ext cx="9144000" cy="571500"/>
          </a:xfrm>
          <a:prstGeom prst="rect">
            <a:avLst/>
          </a:prstGeom>
          <a:noFill/>
          <a:ln w="9525">
            <a:noFill/>
          </a:ln>
        </p:spPr>
      </p:pic>
      <p:pic>
        <p:nvPicPr>
          <p:cNvPr id="2051" name="Picture 7"/>
          <p:cNvPicPr>
            <a:picLocks noChangeAspect="1"/>
          </p:cNvPicPr>
          <p:nvPr userDrawn="1"/>
        </p:nvPicPr>
        <p:blipFill>
          <a:blip r:embed="rId3"/>
          <a:stretch>
            <a:fillRect/>
          </a:stretch>
        </p:blipFill>
        <p:spPr>
          <a:xfrm>
            <a:off x="0" y="896938"/>
            <a:ext cx="9144000" cy="88900"/>
          </a:xfrm>
          <a:prstGeom prst="rect">
            <a:avLst/>
          </a:prstGeom>
          <a:noFill/>
          <a:ln w="9525">
            <a:noFill/>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11"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5DB98C0-4620-47A8-8B57-AE0CCA741EBB}"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2050" name="Picture 6"/>
          <p:cNvPicPr>
            <a:picLocks noChangeAspect="1"/>
          </p:cNvPicPr>
          <p:nvPr userDrawn="1"/>
        </p:nvPicPr>
        <p:blipFill>
          <a:blip r:embed="rId2"/>
          <a:stretch>
            <a:fillRect/>
          </a:stretch>
        </p:blipFill>
        <p:spPr>
          <a:xfrm>
            <a:off x="0" y="6286500"/>
            <a:ext cx="9144000" cy="571500"/>
          </a:xfrm>
          <a:prstGeom prst="rect">
            <a:avLst/>
          </a:prstGeom>
          <a:noFill/>
          <a:ln w="9525">
            <a:noFill/>
          </a:ln>
        </p:spPr>
      </p:pic>
      <p:pic>
        <p:nvPicPr>
          <p:cNvPr id="2051" name="Picture 7"/>
          <p:cNvPicPr>
            <a:picLocks noChangeAspect="1"/>
          </p:cNvPicPr>
          <p:nvPr userDrawn="1"/>
        </p:nvPicPr>
        <p:blipFill>
          <a:blip r:embed="rId3"/>
          <a:stretch>
            <a:fillRect/>
          </a:stretch>
        </p:blipFill>
        <p:spPr>
          <a:xfrm>
            <a:off x="0" y="896938"/>
            <a:ext cx="9144000" cy="88900"/>
          </a:xfrm>
          <a:prstGeom prst="rect">
            <a:avLst/>
          </a:prstGeom>
          <a:noFill/>
          <a:ln w="9525">
            <a:noFill/>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11"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5DB98C0-4620-47A8-8B57-AE0CCA741EBB}"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365125"/>
            <a:ext cx="7886700" cy="1325563"/>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idx="1"/>
          </p:nvPr>
        </p:nvSpPr>
        <p:spPr>
          <a:xfrm>
            <a:off x="628650" y="1825625"/>
            <a:ext cx="7886700" cy="4351338"/>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defRPr sz="9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defRPr sz="9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defRPr sz="900">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365125"/>
            <a:ext cx="7886700" cy="1325563"/>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idx="1"/>
          </p:nvPr>
        </p:nvSpPr>
        <p:spPr>
          <a:xfrm>
            <a:off x="628650" y="1825625"/>
            <a:ext cx="7886700" cy="4351338"/>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defRPr sz="9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defRPr sz="9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defRPr sz="900">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E74F240-C5D2-4929-BFE1-FF27D06BEB71}" type="slidenum">
              <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a:t>
            </a:fld>
            <a:endParaRPr kumimoji="0" lang="en-US" altLang="en-US" sz="9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vietnix.vn/restful-api-la-gi/" TargetMode="Externa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6DCE5"/>
        </a:solidFill>
        <a:effectLst/>
      </p:bgPr>
    </p:bg>
    <p:spTree>
      <p:nvGrpSpPr>
        <p:cNvPr id="1" name=""/>
        <p:cNvGrpSpPr/>
        <p:nvPr/>
      </p:nvGrpSpPr>
      <p:grpSpPr>
        <a:xfrm>
          <a:off x="0" y="0"/>
          <a:ext cx="0" cy="0"/>
          <a:chOff x="0" y="0"/>
          <a:chExt cx="0" cy="0"/>
        </a:xfrm>
      </p:grpSpPr>
      <p:sp>
        <p:nvSpPr>
          <p:cNvPr id="5122" name="Rectangle 6"/>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900" dirty="0">
                <a:solidFill>
                  <a:srgbClr val="FFFFFF"/>
                </a:solidFill>
                <a:cs typeface="Arial" panose="020B0604020202020204" pitchFamily="34" charset="0"/>
              </a:rPr>
              <a:t>1</a:t>
            </a:fld>
            <a:endParaRPr lang="en-US" altLang="en-US" sz="900" dirty="0">
              <a:solidFill>
                <a:srgbClr val="FFFFFF"/>
              </a:solidFill>
              <a:cs typeface="Arial" panose="020B0604020202020204" pitchFamily="34" charset="0"/>
            </a:endParaRPr>
          </a:p>
        </p:txBody>
      </p:sp>
      <p:sp>
        <p:nvSpPr>
          <p:cNvPr id="5124" name="AutoShape 13"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5" name="AutoShape 15"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6" name="AutoShape 17"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7" name="AutoShape 19" descr="Kết quả hình ảnh cho ước lượng"/>
          <p:cNvSpPr>
            <a:spLocks noChangeAspect="1"/>
          </p:cNvSpPr>
          <p:nvPr/>
        </p:nvSpPr>
        <p:spPr>
          <a:xfrm>
            <a:off x="4572000" y="2584133"/>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pic>
        <p:nvPicPr>
          <p:cNvPr id="5128" name="Picture 9"/>
          <p:cNvPicPr>
            <a:picLocks noChangeAspect="1"/>
          </p:cNvPicPr>
          <p:nvPr/>
        </p:nvPicPr>
        <p:blipFill>
          <a:blip r:embed="rId2"/>
          <a:stretch>
            <a:fillRect/>
          </a:stretch>
        </p:blipFill>
        <p:spPr>
          <a:xfrm>
            <a:off x="0" y="6019800"/>
            <a:ext cx="9144000" cy="838200"/>
          </a:xfrm>
          <a:prstGeom prst="rect">
            <a:avLst/>
          </a:prstGeom>
          <a:noFill/>
          <a:ln w="9525">
            <a:noFill/>
          </a:ln>
        </p:spPr>
      </p:pic>
      <p:sp>
        <p:nvSpPr>
          <p:cNvPr id="2" name="Text Box 1"/>
          <p:cNvSpPr txBox="1"/>
          <p:nvPr/>
        </p:nvSpPr>
        <p:spPr>
          <a:xfrm>
            <a:off x="304800" y="546415"/>
            <a:ext cx="8534400" cy="2677656"/>
          </a:xfrm>
          <a:prstGeom prst="rect">
            <a:avLst/>
          </a:prstGeom>
          <a:noFill/>
        </p:spPr>
        <p:txBody>
          <a:bodyPr wrap="square" rtlCol="0" anchor="t">
            <a:spAutoFit/>
          </a:bodyPr>
          <a:lstStyle/>
          <a:p>
            <a:pPr algn="ctr"/>
            <a:r>
              <a:rPr lang="vi-VN" altLang="en-US" sz="2800" b="1" dirty="0">
                <a:effectLst/>
                <a:cs typeface="Arial" panose="020B0604020202020204" pitchFamily="34" charset="0"/>
                <a:sym typeface="+mn-ea"/>
              </a:rPr>
              <a:t> BÁO CÁO ĐỒ ÁN</a:t>
            </a:r>
            <a:r>
              <a:rPr lang="en-US" altLang="en-US" sz="2800" b="1" dirty="0">
                <a:effectLst/>
                <a:cs typeface="Arial" panose="020B0604020202020204" pitchFamily="34" charset="0"/>
                <a:sym typeface="+mn-ea"/>
              </a:rPr>
              <a:t> CHUYÊN NGÀNH</a:t>
            </a:r>
          </a:p>
          <a:p>
            <a:pPr algn="ctr"/>
            <a:endParaRPr lang="vi-VN" altLang="en-US" sz="2800" b="1" dirty="0">
              <a:effectLst>
                <a:outerShdw blurRad="38100" dist="19050" dir="2700000" algn="tl" rotWithShape="0">
                  <a:schemeClr val="dk1">
                    <a:alpha val="40000"/>
                    <a:alpha val="40000"/>
                  </a:schemeClr>
                </a:outerShdw>
              </a:effectLst>
              <a:cs typeface="Arial" panose="020B0604020202020204" pitchFamily="34" charset="0"/>
              <a:sym typeface="+mn-ea"/>
            </a:endParaRPr>
          </a:p>
          <a:p>
            <a:pPr algn="ctr"/>
            <a:r>
              <a:rPr lang="vi-VN" altLang="en-US" sz="2800" b="1" dirty="0">
                <a:effectLst>
                  <a:outerShdw blurRad="38100" dist="19050" dir="2700000" algn="tl" rotWithShape="0">
                    <a:schemeClr val="dk1">
                      <a:alpha val="40000"/>
                      <a:alpha val="40000"/>
                    </a:schemeClr>
                  </a:outerShdw>
                </a:effectLst>
                <a:cs typeface="Arial" panose="020B0604020202020204" pitchFamily="34" charset="0"/>
                <a:sym typeface="+mn-ea"/>
              </a:rPr>
              <a:t>Đề tài</a:t>
            </a:r>
            <a:r>
              <a:rPr lang="vi-VN" altLang="en-US" sz="2800" dirty="0">
                <a:effectLst>
                  <a:outerShdw blurRad="38100" dist="19050" dir="2700000" algn="tl" rotWithShape="0">
                    <a:schemeClr val="dk1">
                      <a:alpha val="40000"/>
                      <a:alpha val="40000"/>
                    </a:schemeClr>
                  </a:outerShdw>
                </a:effectLst>
                <a:cs typeface="Arial" panose="020B0604020202020204" pitchFamily="34" charset="0"/>
                <a:sym typeface="+mn-ea"/>
              </a:rPr>
              <a:t>: </a:t>
            </a:r>
          </a:p>
          <a:p>
            <a:pPr algn="ctr"/>
            <a:r>
              <a:rPr lang="vi-VN" sz="2800" dirty="0"/>
              <a:t>XÂY DỰNG HỆ THỐNG QUẢN LÝ</a:t>
            </a:r>
            <a:endParaRPr lang="en-US" sz="2800" dirty="0"/>
          </a:p>
          <a:p>
            <a:pPr algn="ctr"/>
            <a:r>
              <a:rPr lang="vi-VN" sz="2800" dirty="0"/>
              <a:t> CHƯƠNG TRÌNH HỌC BỔNG </a:t>
            </a:r>
            <a:endParaRPr lang="en-US" sz="2800" dirty="0"/>
          </a:p>
          <a:p>
            <a:pPr algn="ctr"/>
            <a:r>
              <a:rPr lang="vi-VN" sz="2800" dirty="0"/>
              <a:t>DÀNH CHO SINH VIÊN KHÓ KHĂN. </a:t>
            </a:r>
            <a:endParaRPr lang="en-US" altLang="vi-VN" sz="2800" dirty="0">
              <a:effectLst>
                <a:outerShdw blurRad="38100" dist="19050" dir="2700000" algn="tl" rotWithShape="0">
                  <a:schemeClr val="dk1">
                    <a:alpha val="40000"/>
                    <a:alpha val="40000"/>
                  </a:schemeClr>
                </a:outerShdw>
              </a:effectLst>
              <a:cs typeface="Arial" panose="020B0604020202020204" pitchFamily="34" charset="0"/>
              <a:sym typeface="+mn-ea"/>
            </a:endParaRPr>
          </a:p>
        </p:txBody>
      </p:sp>
      <p:sp>
        <p:nvSpPr>
          <p:cNvPr id="5" name="Text Box 4"/>
          <p:cNvSpPr txBox="1"/>
          <p:nvPr/>
        </p:nvSpPr>
        <p:spPr>
          <a:xfrm>
            <a:off x="4800600" y="3886200"/>
            <a:ext cx="4023995" cy="1200329"/>
          </a:xfrm>
          <a:prstGeom prst="rect">
            <a:avLst/>
          </a:prstGeom>
          <a:noFill/>
        </p:spPr>
        <p:txBody>
          <a:bodyPr wrap="square" rtlCol="0" anchor="t">
            <a:spAutoFit/>
          </a:bodyPr>
          <a:lstStyle/>
          <a:p>
            <a:r>
              <a:rPr lang="vi-VN" b="1" dirty="0"/>
              <a:t>Sinh viên thực hiện: </a:t>
            </a:r>
            <a:endParaRPr lang="en-US" b="1" dirty="0"/>
          </a:p>
          <a:p>
            <a:r>
              <a:rPr lang="vi-VN" dirty="0"/>
              <a:t>Họ tên: Huỳnh Phước Thọ </a:t>
            </a:r>
            <a:endParaRPr lang="en-US" dirty="0"/>
          </a:p>
          <a:p>
            <a:r>
              <a:rPr lang="vi-VN" dirty="0"/>
              <a:t>MSSV: 110122169 </a:t>
            </a:r>
            <a:endParaRPr lang="en-US" dirty="0"/>
          </a:p>
          <a:p>
            <a:r>
              <a:rPr lang="vi-VN" dirty="0"/>
              <a:t>Lớp: DA22TTC</a:t>
            </a:r>
            <a:endParaRPr lang="en-US" altLang="en-US" sz="1800" dirty="0">
              <a:cs typeface="Arial" panose="020B0604020202020204" pitchFamily="34" charset="0"/>
              <a:sym typeface="+mn-ea"/>
            </a:endParaRPr>
          </a:p>
        </p:txBody>
      </p:sp>
      <p:sp>
        <p:nvSpPr>
          <p:cNvPr id="3" name="Text Box 2"/>
          <p:cNvSpPr txBox="1"/>
          <p:nvPr/>
        </p:nvSpPr>
        <p:spPr>
          <a:xfrm>
            <a:off x="914400" y="3886200"/>
            <a:ext cx="3235960" cy="922020"/>
          </a:xfrm>
          <a:prstGeom prst="rect">
            <a:avLst/>
          </a:prstGeom>
          <a:noFill/>
        </p:spPr>
        <p:txBody>
          <a:bodyPr wrap="square" rtlCol="0">
            <a:spAutoFit/>
          </a:bodyPr>
          <a:lstStyle/>
          <a:p>
            <a:r>
              <a:rPr lang="vi-VN" b="1" dirty="0"/>
              <a:t>Giảng viên hướng dẫn: </a:t>
            </a:r>
            <a:r>
              <a:rPr lang="vi-VN" dirty="0"/>
              <a:t>ThS.GVC Phan Thị Phương Nam </a:t>
            </a:r>
            <a:endParaRPr lang="en-US" dirty="0">
              <a:cs typeface="Arial" panose="020B0604020202020204" pitchFamily="34" charset="0"/>
            </a:endParaRPr>
          </a:p>
        </p:txBody>
      </p:sp>
      <p:pic>
        <p:nvPicPr>
          <p:cNvPr id="4" name="Picture 3">
            <a:extLst>
              <a:ext uri="{FF2B5EF4-FFF2-40B4-BE49-F238E27FC236}">
                <a16:creationId xmlns:a16="http://schemas.microsoft.com/office/drawing/2014/main" id="{93D5E3CA-383F-FF3E-B532-9D75764D146E}"/>
              </a:ext>
            </a:extLst>
          </p:cNvPr>
          <p:cNvPicPr>
            <a:picLocks noChangeAspect="1"/>
          </p:cNvPicPr>
          <p:nvPr/>
        </p:nvPicPr>
        <p:blipFill>
          <a:blip r:embed="rId3"/>
          <a:stretch>
            <a:fillRect/>
          </a:stretch>
        </p:blipFill>
        <p:spPr>
          <a:xfrm>
            <a:off x="155575" y="121174"/>
            <a:ext cx="1304657" cy="13046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467600" cy="715963"/>
          </a:xfrm>
        </p:spPr>
        <p:txBody>
          <a:bodyPr vert="horz" wrap="square" lIns="91440" tIns="45720" rIns="91440" bIns="45720" numCol="1" rtlCol="0" anchor="ctr" anchorCtr="0" compatLnSpc="1">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vi-VN" altLang="en-US" sz="33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rPr>
              <a:t>Nội Dung Báo Cáo</a:t>
            </a:r>
          </a:p>
        </p:txBody>
      </p:sp>
      <p:sp>
        <p:nvSpPr>
          <p:cNvPr id="6147" name="Slide Number Placeholder 3"/>
          <p:cNvSpPr txBox="1">
            <a:spLocks noGrp="1"/>
          </p:cNvSpPr>
          <p:nvPr>
            <p:ph type="sldNum" sz="quarter" idx="4"/>
          </p:nvPr>
        </p:nvSpPr>
        <p:spPr>
          <a:xfrm>
            <a:off x="6457950" y="6400800"/>
            <a:ext cx="2686050" cy="365125"/>
          </a:xfrm>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l" eaLnBrk="1" hangingPunct="1"/>
            <a:fld id="{9A0DB2DC-4C9A-4742-B13C-FB6460FD3503}" type="slidenum">
              <a:rPr lang="en-US" altLang="en-US" sz="900" dirty="0">
                <a:cs typeface="Arial" panose="020B0604020202020204" pitchFamily="34" charset="0"/>
              </a:rPr>
              <a:t>2</a:t>
            </a:fld>
            <a:endParaRPr lang="en-US" altLang="en-US" sz="900" dirty="0">
              <a:cs typeface="Arial" panose="020B0604020202020204" pitchFamily="34" charset="0"/>
            </a:endParaRPr>
          </a:p>
        </p:txBody>
      </p:sp>
      <p:sp>
        <p:nvSpPr>
          <p:cNvPr id="4" name="Text Box 3"/>
          <p:cNvSpPr txBox="1"/>
          <p:nvPr/>
        </p:nvSpPr>
        <p:spPr>
          <a:xfrm>
            <a:off x="228600" y="1066800"/>
            <a:ext cx="8521700" cy="5005705"/>
          </a:xfrm>
          <a:prstGeom prst="rect">
            <a:avLst/>
          </a:prstGeom>
          <a:noFill/>
          <a:ln>
            <a:solidFill>
              <a:schemeClr val="accent1"/>
            </a:solidFill>
          </a:ln>
        </p:spPr>
        <p:txBody>
          <a:bodyPr wrap="square" rtlCol="0">
            <a:noAutofit/>
          </a:bodyPr>
          <a:lstStyle/>
          <a:p>
            <a:pPr marL="514350" indent="-514350" algn="l">
              <a:buAutoNum type="arabicPeriod"/>
            </a:pPr>
            <a:r>
              <a:rPr lang="en-US" altLang="en-US" sz="2500" b="1" dirty="0" err="1">
                <a:cs typeface="Arial" panose="020B0604020202020204" pitchFamily="34" charset="0"/>
              </a:rPr>
              <a:t>Tổng</a:t>
            </a:r>
            <a:r>
              <a:rPr lang="en-US" altLang="en-US" sz="2500" b="1" dirty="0">
                <a:cs typeface="Arial" panose="020B0604020202020204" pitchFamily="34" charset="0"/>
              </a:rPr>
              <a:t> </a:t>
            </a:r>
            <a:r>
              <a:rPr lang="en-US" altLang="en-US" sz="2500" b="1" dirty="0" err="1">
                <a:cs typeface="Arial" panose="020B0604020202020204" pitchFamily="34" charset="0"/>
              </a:rPr>
              <a:t>quan</a:t>
            </a:r>
            <a:r>
              <a:rPr lang="en-US" altLang="en-US" sz="2500" b="1" dirty="0">
                <a:cs typeface="Arial" panose="020B0604020202020204" pitchFamily="34" charset="0"/>
              </a:rPr>
              <a:t> </a:t>
            </a:r>
            <a:r>
              <a:rPr lang="en-US" altLang="en-US" sz="2500" b="1" dirty="0" err="1">
                <a:cs typeface="Arial" panose="020B0604020202020204" pitchFamily="34" charset="0"/>
              </a:rPr>
              <a:t>đề</a:t>
            </a:r>
            <a:r>
              <a:rPr lang="en-US" altLang="en-US" sz="2500" b="1" dirty="0">
                <a:cs typeface="Arial" panose="020B0604020202020204" pitchFamily="34" charset="0"/>
              </a:rPr>
              <a:t> </a:t>
            </a:r>
            <a:r>
              <a:rPr lang="en-US" altLang="en-US" sz="2500" b="1" dirty="0" err="1">
                <a:cs typeface="Arial" panose="020B0604020202020204" pitchFamily="34" charset="0"/>
              </a:rPr>
              <a:t>tài</a:t>
            </a:r>
            <a:endParaRPr lang="en-US" altLang="en-US" sz="2500" b="1" dirty="0">
              <a:cs typeface="Arial" panose="020B0604020202020204" pitchFamily="34" charset="0"/>
            </a:endParaRPr>
          </a:p>
          <a:p>
            <a:pPr marL="514350" indent="-514350" algn="l">
              <a:buAutoNum type="arabicPeriod"/>
            </a:pPr>
            <a:r>
              <a:rPr lang="en-US" altLang="en-US" sz="2500" b="1" dirty="0">
                <a:cs typeface="Arial" panose="020B0604020202020204" pitchFamily="34" charset="0"/>
              </a:rPr>
              <a:t>Lý do </a:t>
            </a:r>
            <a:r>
              <a:rPr lang="en-US" altLang="en-US" sz="2500" b="1" dirty="0" err="1">
                <a:cs typeface="Arial" panose="020B0604020202020204" pitchFamily="34" charset="0"/>
              </a:rPr>
              <a:t>chọn</a:t>
            </a:r>
            <a:r>
              <a:rPr lang="en-US" altLang="en-US" sz="2500" b="1" dirty="0">
                <a:cs typeface="Arial" panose="020B0604020202020204" pitchFamily="34" charset="0"/>
              </a:rPr>
              <a:t> </a:t>
            </a:r>
            <a:r>
              <a:rPr lang="en-US" altLang="en-US" sz="2500" b="1" dirty="0" err="1">
                <a:cs typeface="Arial" panose="020B0604020202020204" pitchFamily="34" charset="0"/>
              </a:rPr>
              <a:t>đề</a:t>
            </a:r>
            <a:r>
              <a:rPr lang="en-US" altLang="en-US" sz="2500" b="1" dirty="0">
                <a:cs typeface="Arial" panose="020B0604020202020204" pitchFamily="34" charset="0"/>
              </a:rPr>
              <a:t> </a:t>
            </a:r>
            <a:r>
              <a:rPr lang="en-US" altLang="en-US" sz="2500" b="1" dirty="0" err="1">
                <a:cs typeface="Arial" panose="020B0604020202020204" pitchFamily="34" charset="0"/>
              </a:rPr>
              <a:t>tài</a:t>
            </a:r>
            <a:endParaRPr lang="en-US" altLang="en-US" sz="2500" b="1" dirty="0">
              <a:cs typeface="Arial" panose="020B0604020202020204" pitchFamily="34" charset="0"/>
            </a:endParaRPr>
          </a:p>
          <a:p>
            <a:pPr marL="514350" indent="-514350" algn="l">
              <a:buAutoNum type="arabicPeriod"/>
            </a:pPr>
            <a:r>
              <a:rPr lang="en-US" altLang="en-US" sz="2500" b="1" dirty="0" err="1">
                <a:cs typeface="Arial" panose="020B0604020202020204" pitchFamily="34" charset="0"/>
              </a:rPr>
              <a:t>Mục</a:t>
            </a:r>
            <a:r>
              <a:rPr lang="en-US" altLang="en-US" sz="2500" b="1" dirty="0">
                <a:cs typeface="Arial" panose="020B0604020202020204" pitchFamily="34" charset="0"/>
              </a:rPr>
              <a:t> </a:t>
            </a:r>
            <a:r>
              <a:rPr lang="en-US" altLang="en-US" sz="2500" b="1" dirty="0" err="1">
                <a:cs typeface="Arial" panose="020B0604020202020204" pitchFamily="34" charset="0"/>
              </a:rPr>
              <a:t>tiêu</a:t>
            </a:r>
            <a:r>
              <a:rPr lang="en-US" altLang="en-US" sz="2500" b="1" dirty="0">
                <a:cs typeface="Arial" panose="020B0604020202020204" pitchFamily="34" charset="0"/>
              </a:rPr>
              <a:t> </a:t>
            </a:r>
            <a:r>
              <a:rPr lang="en-US" altLang="en-US" sz="2500" b="1" dirty="0" err="1">
                <a:cs typeface="Arial" panose="020B0604020202020204" pitchFamily="34" charset="0"/>
              </a:rPr>
              <a:t>nghiên</a:t>
            </a:r>
            <a:r>
              <a:rPr lang="en-US" altLang="en-US" sz="2500" b="1" dirty="0">
                <a:cs typeface="Arial" panose="020B0604020202020204" pitchFamily="34" charset="0"/>
              </a:rPr>
              <a:t> </a:t>
            </a:r>
            <a:r>
              <a:rPr lang="en-US" altLang="en-US" sz="2500" b="1" dirty="0" err="1">
                <a:cs typeface="Arial" panose="020B0604020202020204" pitchFamily="34" charset="0"/>
              </a:rPr>
              <a:t>cứu</a:t>
            </a:r>
            <a:endParaRPr lang="en-US" altLang="en-US" sz="2500" b="1" dirty="0">
              <a:cs typeface="Arial" panose="020B0604020202020204" pitchFamily="34" charset="0"/>
            </a:endParaRPr>
          </a:p>
          <a:p>
            <a:pPr marL="514350" indent="-514350">
              <a:buAutoNum type="arabicPeriod"/>
            </a:pPr>
            <a:r>
              <a:rPr lang="en-US" altLang="en-US" sz="2500" b="1" dirty="0" err="1">
                <a:cs typeface="Arial" panose="020B0604020202020204" pitchFamily="34" charset="0"/>
              </a:rPr>
              <a:t>Nội</a:t>
            </a:r>
            <a:r>
              <a:rPr lang="en-US" altLang="en-US" sz="2500" b="1" dirty="0">
                <a:cs typeface="Arial" panose="020B0604020202020204" pitchFamily="34" charset="0"/>
              </a:rPr>
              <a:t> dung </a:t>
            </a:r>
            <a:r>
              <a:rPr lang="en-US" altLang="en-US" sz="2500" b="1" dirty="0" err="1">
                <a:cs typeface="Arial" panose="020B0604020202020204" pitchFamily="34" charset="0"/>
              </a:rPr>
              <a:t>và</a:t>
            </a:r>
            <a:r>
              <a:rPr lang="en-US" altLang="en-US" sz="2500" b="1" dirty="0">
                <a:cs typeface="Arial" panose="020B0604020202020204" pitchFamily="34" charset="0"/>
              </a:rPr>
              <a:t> </a:t>
            </a:r>
            <a:r>
              <a:rPr lang="en-US" altLang="en-US" sz="2500" b="1" dirty="0" err="1">
                <a:cs typeface="Arial" panose="020B0604020202020204" pitchFamily="34" charset="0"/>
              </a:rPr>
              <a:t>đối</a:t>
            </a:r>
            <a:r>
              <a:rPr lang="en-US" altLang="en-US" sz="2500" b="1" dirty="0">
                <a:cs typeface="Arial" panose="020B0604020202020204" pitchFamily="34" charset="0"/>
              </a:rPr>
              <a:t> </a:t>
            </a:r>
            <a:r>
              <a:rPr lang="en-US" altLang="en-US" sz="2500" b="1" dirty="0" err="1">
                <a:cs typeface="Arial" panose="020B0604020202020204" pitchFamily="34" charset="0"/>
              </a:rPr>
              <a:t>tượng</a:t>
            </a:r>
            <a:r>
              <a:rPr lang="en-US" altLang="en-US" sz="2500" b="1" dirty="0">
                <a:cs typeface="Arial" panose="020B0604020202020204" pitchFamily="34" charset="0"/>
              </a:rPr>
              <a:t> </a:t>
            </a:r>
            <a:r>
              <a:rPr lang="en-US" altLang="en-US" sz="2500" b="1" dirty="0" err="1">
                <a:cs typeface="Arial" panose="020B0604020202020204" pitchFamily="34" charset="0"/>
              </a:rPr>
              <a:t>nghiên</a:t>
            </a:r>
            <a:r>
              <a:rPr lang="en-US" altLang="en-US" sz="2500" b="1" dirty="0">
                <a:cs typeface="Arial" panose="020B0604020202020204" pitchFamily="34" charset="0"/>
              </a:rPr>
              <a:t> </a:t>
            </a:r>
            <a:r>
              <a:rPr lang="en-US" altLang="en-US" sz="2500" b="1" dirty="0" err="1">
                <a:cs typeface="Arial" panose="020B0604020202020204" pitchFamily="34" charset="0"/>
              </a:rPr>
              <a:t>cứu</a:t>
            </a:r>
            <a:r>
              <a:rPr lang="en-US" altLang="en-US" sz="2500" b="1" dirty="0">
                <a:cs typeface="Arial" panose="020B0604020202020204" pitchFamily="34" charset="0"/>
              </a:rPr>
              <a:t> </a:t>
            </a:r>
          </a:p>
          <a:p>
            <a:pPr marL="514350" indent="-514350">
              <a:buAutoNum type="arabicPeriod"/>
            </a:pPr>
            <a:r>
              <a:rPr lang="en-US" altLang="en-US" sz="2500" b="1" dirty="0" err="1">
                <a:cs typeface="Arial" panose="020B0604020202020204" pitchFamily="34" charset="0"/>
              </a:rPr>
              <a:t>Hiện</a:t>
            </a:r>
            <a:r>
              <a:rPr lang="en-US" altLang="en-US" sz="2500" b="1" dirty="0">
                <a:cs typeface="Arial" panose="020B0604020202020204" pitchFamily="34" charset="0"/>
              </a:rPr>
              <a:t> </a:t>
            </a:r>
            <a:r>
              <a:rPr lang="en-US" altLang="en-US" sz="2500" b="1" dirty="0" err="1">
                <a:cs typeface="Arial" panose="020B0604020202020204" pitchFamily="34" charset="0"/>
              </a:rPr>
              <a:t>thực</a:t>
            </a:r>
            <a:r>
              <a:rPr lang="en-US" altLang="en-US" sz="2500" b="1" dirty="0">
                <a:cs typeface="Arial" panose="020B0604020202020204" pitchFamily="34" charset="0"/>
              </a:rPr>
              <a:t> </a:t>
            </a:r>
            <a:r>
              <a:rPr lang="en-US" altLang="en-US" sz="2500" b="1" dirty="0" err="1">
                <a:cs typeface="Arial" panose="020B0604020202020204" pitchFamily="34" charset="0"/>
              </a:rPr>
              <a:t>hóa</a:t>
            </a:r>
            <a:r>
              <a:rPr lang="en-US" altLang="en-US" sz="2500" b="1" dirty="0">
                <a:cs typeface="Arial" panose="020B0604020202020204" pitchFamily="34" charset="0"/>
              </a:rPr>
              <a:t> </a:t>
            </a:r>
            <a:r>
              <a:rPr lang="en-US" altLang="en-US" sz="2500" b="1" dirty="0" err="1">
                <a:cs typeface="Arial" panose="020B0604020202020204" pitchFamily="34" charset="0"/>
              </a:rPr>
              <a:t>nghiên</a:t>
            </a:r>
            <a:r>
              <a:rPr lang="en-US" altLang="en-US" sz="2500" b="1" dirty="0">
                <a:cs typeface="Arial" panose="020B0604020202020204" pitchFamily="34" charset="0"/>
              </a:rPr>
              <a:t> </a:t>
            </a:r>
            <a:r>
              <a:rPr lang="en-US" altLang="en-US" sz="2500" b="1" dirty="0" err="1">
                <a:cs typeface="Arial" panose="020B0604020202020204" pitchFamily="34" charset="0"/>
              </a:rPr>
              <a:t>cứu</a:t>
            </a:r>
            <a:endParaRPr lang="en-US" altLang="en-US" sz="2500" b="1" dirty="0">
              <a:cs typeface="Arial" panose="020B0604020202020204" pitchFamily="34" charset="0"/>
            </a:endParaRPr>
          </a:p>
          <a:p>
            <a:pPr marL="514350" indent="-514350">
              <a:buAutoNum type="arabicPeriod"/>
            </a:pPr>
            <a:r>
              <a:rPr lang="en-US" altLang="en-US" sz="2500" b="1" dirty="0" err="1">
                <a:cs typeface="Arial" panose="020B0604020202020204" pitchFamily="34" charset="0"/>
              </a:rPr>
              <a:t>Kết</a:t>
            </a:r>
            <a:r>
              <a:rPr lang="en-US" altLang="en-US" sz="2500" b="1" dirty="0">
                <a:cs typeface="Arial" panose="020B0604020202020204" pitchFamily="34" charset="0"/>
              </a:rPr>
              <a:t> </a:t>
            </a:r>
            <a:r>
              <a:rPr lang="en-US" altLang="en-US" sz="2500" b="1" dirty="0" err="1">
                <a:cs typeface="Arial" panose="020B0604020202020204" pitchFamily="34" charset="0"/>
              </a:rPr>
              <a:t>quả</a:t>
            </a:r>
            <a:r>
              <a:rPr lang="en-US" altLang="en-US" sz="2500" b="1" dirty="0">
                <a:cs typeface="Arial" panose="020B0604020202020204" pitchFamily="34" charset="0"/>
              </a:rPr>
              <a:t> </a:t>
            </a:r>
            <a:r>
              <a:rPr lang="en-US" altLang="en-US" sz="2500" b="1" dirty="0" err="1">
                <a:cs typeface="Arial" panose="020B0604020202020204" pitchFamily="34" charset="0"/>
              </a:rPr>
              <a:t>nghiên</a:t>
            </a:r>
            <a:r>
              <a:rPr lang="en-US" altLang="en-US" sz="2500" b="1" dirty="0">
                <a:cs typeface="Arial" panose="020B0604020202020204" pitchFamily="34" charset="0"/>
              </a:rPr>
              <a:t> </a:t>
            </a:r>
            <a:r>
              <a:rPr lang="en-US" altLang="en-US" sz="2500" b="1" dirty="0" err="1">
                <a:cs typeface="Arial" panose="020B0604020202020204" pitchFamily="34" charset="0"/>
              </a:rPr>
              <a:t>cứu</a:t>
            </a:r>
            <a:endParaRPr lang="en-US" altLang="en-US" sz="2500" b="1" dirty="0">
              <a:cs typeface="Arial" panose="020B0604020202020204" pitchFamily="34" charset="0"/>
            </a:endParaRPr>
          </a:p>
          <a:p>
            <a:pPr marL="514350" indent="-514350">
              <a:buAutoNum type="arabicPeriod"/>
            </a:pPr>
            <a:r>
              <a:rPr lang="en-US" altLang="en-US" sz="2500" b="1" dirty="0" err="1">
                <a:cs typeface="Arial" panose="020B0604020202020204" pitchFamily="34" charset="0"/>
              </a:rPr>
              <a:t>Kết</a:t>
            </a:r>
            <a:r>
              <a:rPr lang="en-US" altLang="en-US" sz="2500" b="1" dirty="0">
                <a:cs typeface="Arial" panose="020B0604020202020204" pitchFamily="34" charset="0"/>
              </a:rPr>
              <a:t> </a:t>
            </a:r>
            <a:r>
              <a:rPr lang="en-US" altLang="en-US" sz="2500" b="1" dirty="0" err="1">
                <a:cs typeface="Arial" panose="020B0604020202020204" pitchFamily="34" charset="0"/>
              </a:rPr>
              <a:t>luận</a:t>
            </a:r>
            <a:endParaRPr lang="en-US" altLang="en-US" sz="2500" b="1" dirty="0">
              <a:cs typeface="Arial" panose="020B0604020202020204" pitchFamily="34" charset="0"/>
            </a:endParaRPr>
          </a:p>
          <a:p>
            <a:pPr marL="514350" indent="-514350" algn="l">
              <a:buAutoNum type="arabicPeriod"/>
            </a:pPr>
            <a:endParaRPr lang="en-US" altLang="en-US" sz="2500" b="1" dirty="0">
              <a:latin typeface="Calibri" panose="020F0502020204030204" charset="0"/>
              <a:cs typeface="Calibri" panose="020F0502020204030204" charset="0"/>
            </a:endParaRPr>
          </a:p>
          <a:p>
            <a:pPr marL="514350" indent="-514350" algn="l">
              <a:buAutoNum type="arabicPeriod"/>
            </a:pPr>
            <a:endParaRPr lang="en-US" altLang="en-US" sz="2500" b="1" dirty="0">
              <a:latin typeface="Calibri" panose="020F0502020204030204" charset="0"/>
              <a:cs typeface="Calibri" panose="020F0502020204030204" charset="0"/>
            </a:endParaRPr>
          </a:p>
          <a:p>
            <a:pPr marL="514350" indent="-514350" algn="l">
              <a:buAutoNum type="arabicPeriod"/>
            </a:pPr>
            <a:endParaRPr lang="en-US" altLang="en-US" sz="2500" b="1" dirty="0">
              <a:latin typeface="Calibri" panose="020F0502020204030204" charset="0"/>
              <a:cs typeface="Calibri" panose="020F0502020204030204" charset="0"/>
            </a:endParaRPr>
          </a:p>
          <a:p>
            <a:pPr marL="514350" indent="-514350" algn="l">
              <a:buAutoNum type="arabicPeriod"/>
            </a:pPr>
            <a:endParaRPr lang="en-US" altLang="en-US" sz="2500" b="1" dirty="0">
              <a:latin typeface="Calibri" panose="020F0502020204030204" charset="0"/>
              <a:cs typeface="Calibri" panose="020F0502020204030204" charset="0"/>
              <a:sym typeface="+mn-ea"/>
            </a:endParaRPr>
          </a:p>
          <a:p>
            <a:pPr marL="514350" indent="-514350" algn="l">
              <a:buAutoNum type="arabicPeriod"/>
            </a:pPr>
            <a:endParaRPr lang="en-US" altLang="en-US" sz="2500" b="1" dirty="0">
              <a:latin typeface="Calibri" panose="020F0502020204030204" charset="0"/>
              <a:cs typeface="Calibri" panose="020F0502020204030204" charset="0"/>
            </a:endParaRPr>
          </a:p>
          <a:p>
            <a:pPr marL="514350" indent="-514350" algn="l">
              <a:buAutoNum type="arabicPeriod"/>
            </a:pPr>
            <a:endParaRPr lang="en-US" altLang="en-US" sz="2500" b="1" dirty="0">
              <a:latin typeface="Calibri" panose="020F0502020204030204" charset="0"/>
              <a:cs typeface="Calibri" panose="020F0502020204030204" charset="0"/>
            </a:endParaRPr>
          </a:p>
          <a:p>
            <a:pPr marL="514350" indent="-514350" algn="l">
              <a:buAutoNum type="arabicPeriod"/>
            </a:pPr>
            <a:endParaRPr lang="en-US" altLang="en-US" sz="2500" b="1" dirty="0">
              <a:latin typeface="Calibri" panose="020F0502020204030204" charset="0"/>
              <a:cs typeface="Calibri" panose="020F0502020204030204" charset="0"/>
            </a:endParaRPr>
          </a:p>
          <a:p>
            <a:pPr marL="514350" indent="-514350" algn="l">
              <a:buAutoNum type="arabicPeriod"/>
            </a:pPr>
            <a:endParaRPr lang="en-US" altLang="en-US" sz="2500" b="1" dirty="0">
              <a:latin typeface="Calibri" panose="020F0502020204030204" charset="0"/>
              <a:cs typeface="Calibri" panose="020F0502020204030204" charset="0"/>
            </a:endParaRPr>
          </a:p>
          <a:p>
            <a:pPr marL="514350" indent="-514350" algn="l">
              <a:buAutoNum type="arabicPeriod"/>
            </a:pPr>
            <a:endParaRPr lang="en-US" altLang="en-US" sz="2500" b="1" dirty="0">
              <a:latin typeface="Calibri" panose="020F0502020204030204" charset="0"/>
              <a:cs typeface="Calibri" panose="020F0502020204030204" charset="0"/>
            </a:endParaRPr>
          </a:p>
          <a:p>
            <a:pPr algn="l"/>
            <a:endParaRPr lang="en-US" altLang="en-US" sz="2500" b="1" dirty="0">
              <a:latin typeface="Calibri" panose="020F0502020204030204" charset="0"/>
              <a:cs typeface="Calibri" panose="020F0502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18322-9B56-1EA2-0178-803B238BFCE8}"/>
              </a:ext>
            </a:extLst>
          </p:cNvPr>
          <p:cNvSpPr>
            <a:spLocks noGrp="1"/>
          </p:cNvSpPr>
          <p:nvPr>
            <p:ph type="title"/>
          </p:nvPr>
        </p:nvSpPr>
        <p:spPr>
          <a:xfrm>
            <a:off x="628650" y="365126"/>
            <a:ext cx="7886700" cy="315912"/>
          </a:xfrm>
        </p:spPr>
        <p:txBody>
          <a:bodyPr/>
          <a:lstStyle/>
          <a:p>
            <a:r>
              <a:rPr lang="en-US" altLang="vi-VN" sz="3600" b="1" dirty="0">
                <a:solidFill>
                  <a:schemeClr val="accent5">
                    <a:lumMod val="50000"/>
                  </a:schemeClr>
                </a:solidFill>
                <a:latin typeface="Arial" panose="020B0604020202020204" pitchFamily="34" charset="0"/>
                <a:cs typeface="Arial" panose="020B0604020202020204" pitchFamily="34" charset="0"/>
              </a:rPr>
              <a:t>1.</a:t>
            </a:r>
            <a:r>
              <a:rPr lang="en-US" altLang="en-US" sz="3600" b="1" dirty="0">
                <a:solidFill>
                  <a:srgbClr val="203864"/>
                </a:solidFill>
                <a:latin typeface="Arial" panose="020B0604020202020204" pitchFamily="34" charset="0"/>
                <a:cs typeface="Arial" panose="020B0604020202020204" pitchFamily="34" charset="0"/>
                <a:sym typeface="+mn-ea"/>
              </a:rPr>
              <a:t> </a:t>
            </a:r>
            <a:r>
              <a:rPr lang="en-US" altLang="en-US" sz="3600" b="1" dirty="0" err="1">
                <a:solidFill>
                  <a:srgbClr val="203864"/>
                </a:solidFill>
                <a:latin typeface="Arial" panose="020B0604020202020204" pitchFamily="34" charset="0"/>
                <a:cs typeface="Arial" panose="020B0604020202020204" pitchFamily="34" charset="0"/>
                <a:sym typeface="+mn-ea"/>
              </a:rPr>
              <a:t>Tổng</a:t>
            </a:r>
            <a:r>
              <a:rPr lang="en-US" altLang="en-US" sz="3600" b="1" dirty="0">
                <a:solidFill>
                  <a:srgbClr val="203864"/>
                </a:solidFill>
                <a:latin typeface="Arial" panose="020B0604020202020204" pitchFamily="34" charset="0"/>
                <a:cs typeface="Arial" panose="020B0604020202020204" pitchFamily="34" charset="0"/>
                <a:sym typeface="+mn-ea"/>
              </a:rPr>
              <a:t> </a:t>
            </a:r>
            <a:r>
              <a:rPr lang="en-US" altLang="en-US" sz="3600" b="1" dirty="0" err="1">
                <a:solidFill>
                  <a:srgbClr val="203864"/>
                </a:solidFill>
                <a:latin typeface="Arial" panose="020B0604020202020204" pitchFamily="34" charset="0"/>
                <a:cs typeface="Arial" panose="020B0604020202020204" pitchFamily="34" charset="0"/>
                <a:sym typeface="+mn-ea"/>
              </a:rPr>
              <a:t>quan</a:t>
            </a:r>
            <a:r>
              <a:rPr lang="en-US" altLang="en-US" sz="3600" b="1" dirty="0">
                <a:solidFill>
                  <a:srgbClr val="203864"/>
                </a:solidFill>
                <a:latin typeface="Arial" panose="020B0604020202020204" pitchFamily="34" charset="0"/>
                <a:cs typeface="Arial" panose="020B0604020202020204" pitchFamily="34" charset="0"/>
                <a:sym typeface="+mn-ea"/>
              </a:rPr>
              <a:t> </a:t>
            </a:r>
            <a:r>
              <a:rPr lang="en-US" altLang="en-US" sz="3600" b="1" dirty="0" err="1">
                <a:solidFill>
                  <a:srgbClr val="203864"/>
                </a:solidFill>
                <a:latin typeface="Arial" panose="020B0604020202020204" pitchFamily="34" charset="0"/>
                <a:cs typeface="Arial" panose="020B0604020202020204" pitchFamily="34" charset="0"/>
                <a:sym typeface="+mn-ea"/>
              </a:rPr>
              <a:t>đề</a:t>
            </a:r>
            <a:r>
              <a:rPr lang="en-US" altLang="en-US" sz="3600" b="1" dirty="0">
                <a:solidFill>
                  <a:srgbClr val="203864"/>
                </a:solidFill>
                <a:latin typeface="Arial" panose="020B0604020202020204" pitchFamily="34" charset="0"/>
                <a:cs typeface="Arial" panose="020B0604020202020204" pitchFamily="34" charset="0"/>
                <a:sym typeface="+mn-ea"/>
              </a:rPr>
              <a:t> </a:t>
            </a:r>
            <a:r>
              <a:rPr lang="en-US" altLang="en-US" sz="3600" b="1" dirty="0" err="1">
                <a:solidFill>
                  <a:srgbClr val="203864"/>
                </a:solidFill>
                <a:latin typeface="Arial" panose="020B0604020202020204" pitchFamily="34" charset="0"/>
                <a:cs typeface="Arial" panose="020B0604020202020204" pitchFamily="34" charset="0"/>
                <a:sym typeface="+mn-ea"/>
              </a:rPr>
              <a:t>tài</a:t>
            </a:r>
            <a:endParaRPr lang="en-US" dirty="0"/>
          </a:p>
        </p:txBody>
      </p:sp>
      <p:sp>
        <p:nvSpPr>
          <p:cNvPr id="4" name="TextBox 3">
            <a:extLst>
              <a:ext uri="{FF2B5EF4-FFF2-40B4-BE49-F238E27FC236}">
                <a16:creationId xmlns:a16="http://schemas.microsoft.com/office/drawing/2014/main" id="{FABECD6D-6C8E-F529-7730-7957E4639673}"/>
              </a:ext>
            </a:extLst>
          </p:cNvPr>
          <p:cNvSpPr txBox="1"/>
          <p:nvPr/>
        </p:nvSpPr>
        <p:spPr>
          <a:xfrm>
            <a:off x="381000" y="1357594"/>
            <a:ext cx="6010275" cy="2431435"/>
          </a:xfrm>
          <a:prstGeom prst="rect">
            <a:avLst/>
          </a:prstGeom>
          <a:noFill/>
        </p:spPr>
        <p:txBody>
          <a:bodyPr wrap="square" rtlCol="0">
            <a:spAutoFit/>
          </a:bodyPr>
          <a:lstStyle/>
          <a:p>
            <a:pPr algn="just"/>
            <a:r>
              <a:rPr lang="vi-VN" sz="1900" dirty="0"/>
              <a:t>Đề tài tập trung xây dựng hệ thống quản lý chương trình học bổng dành cho sinh viên khó khăn tại các trường đại học. Giúp tương tác giữa nhà trường, các nhà tài trợ và sinh viên dễ dàng hơn từ đó quy trình từ việc công bố học bổng, nộp hồ sơ, xét duyệt cho đến khi trao học bổng trở nên minh bạch, chính xác và hiệu quả. </a:t>
            </a:r>
            <a:endParaRPr lang="en-US" sz="1900" dirty="0"/>
          </a:p>
          <a:p>
            <a:pPr algn="just"/>
            <a:endParaRPr lang="en-US" sz="1900" dirty="0"/>
          </a:p>
        </p:txBody>
      </p:sp>
      <p:sp>
        <p:nvSpPr>
          <p:cNvPr id="5" name="AutoShape 2" descr="Xem chi tiết hình ảnh liên quan. Scholarship Vector Icon Illustration Graduation Diploma And Money ...">
            <a:extLst>
              <a:ext uri="{FF2B5EF4-FFF2-40B4-BE49-F238E27FC236}">
                <a16:creationId xmlns:a16="http://schemas.microsoft.com/office/drawing/2014/main" id="{0A89B521-9BDF-11FC-1BB9-CB363D1CBC9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Xem chi tiết hình ảnh liên quan. Scholarship Vector Icon Illustration Graduation Diploma And Money ...">
            <a:extLst>
              <a:ext uri="{FF2B5EF4-FFF2-40B4-BE49-F238E27FC236}">
                <a16:creationId xmlns:a16="http://schemas.microsoft.com/office/drawing/2014/main" id="{D65E26B4-1CDA-7633-4046-F084F6F8831A}"/>
              </a:ext>
            </a:extLst>
          </p:cNvPr>
          <p:cNvSpPr>
            <a:spLocks noChangeAspect="1" noChangeArrowheads="1"/>
          </p:cNvSpPr>
          <p:nvPr/>
        </p:nvSpPr>
        <p:spPr bwMode="auto">
          <a:xfrm>
            <a:off x="4572000" y="3429000"/>
            <a:ext cx="2743200" cy="274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51E273DF-5A96-993B-0A95-5251AD6C2173}"/>
              </a:ext>
            </a:extLst>
          </p:cNvPr>
          <p:cNvPicPr>
            <a:picLocks noChangeAspect="1"/>
          </p:cNvPicPr>
          <p:nvPr/>
        </p:nvPicPr>
        <p:blipFill>
          <a:blip r:embed="rId2"/>
          <a:stretch>
            <a:fillRect/>
          </a:stretch>
        </p:blipFill>
        <p:spPr>
          <a:xfrm>
            <a:off x="6391275" y="973701"/>
            <a:ext cx="2600325" cy="2600325"/>
          </a:xfrm>
          <a:prstGeom prst="rect">
            <a:avLst/>
          </a:prstGeom>
        </p:spPr>
      </p:pic>
      <p:sp>
        <p:nvSpPr>
          <p:cNvPr id="3" name="TextBox 2">
            <a:extLst>
              <a:ext uri="{FF2B5EF4-FFF2-40B4-BE49-F238E27FC236}">
                <a16:creationId xmlns:a16="http://schemas.microsoft.com/office/drawing/2014/main" id="{EE20D8D3-8FBF-18D9-C2B0-FE0CAF3FA8E1}"/>
              </a:ext>
            </a:extLst>
          </p:cNvPr>
          <p:cNvSpPr txBox="1"/>
          <p:nvPr/>
        </p:nvSpPr>
        <p:spPr>
          <a:xfrm>
            <a:off x="336755" y="4004033"/>
            <a:ext cx="7687798" cy="1477328"/>
          </a:xfrm>
          <a:prstGeom prst="rect">
            <a:avLst/>
          </a:prstGeom>
          <a:noFill/>
        </p:spPr>
        <p:txBody>
          <a:bodyPr wrap="square" rtlCol="0">
            <a:spAutoFit/>
          </a:bodyPr>
          <a:lstStyle/>
          <a:p>
            <a:pPr algn="just"/>
            <a:r>
              <a:rPr lang="vi-VN" dirty="0"/>
              <a:t>Hệ thống cho phép theo dõi và quản lý thông tin các gói học bổng, tiếp nhận và xét duyệt hồ sơ trực tuyến của sinh viên. Cung cấp môi trường để tìm kiếm các học bổng phù hợp, nộp hồ sơ, theo dõi trạng thái và nhận thông báo kết quả. Ngoài ra, tạo các báo cáo thống kê nhằm phục vụ công tác quản lý và báo cáo của nhà trường.</a:t>
            </a:r>
          </a:p>
        </p:txBody>
      </p:sp>
    </p:spTree>
    <p:extLst>
      <p:ext uri="{BB962C8B-B14F-4D97-AF65-F5344CB8AC3E}">
        <p14:creationId xmlns:p14="http://schemas.microsoft.com/office/powerpoint/2010/main" val="3945054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467600" cy="715963"/>
          </a:xfrm>
        </p:spPr>
        <p:txBody>
          <a:bodyPr vert="horz" wrap="square" lIns="91440" tIns="45720" rIns="91440" bIns="45720" numCol="1" rtlCol="0" anchor="ctr" anchorCtr="0" compatLnSpc="1">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lang="en-US" altLang="vi-VN" sz="2800" b="1" dirty="0">
                <a:solidFill>
                  <a:schemeClr val="accent5">
                    <a:lumMod val="50000"/>
                  </a:schemeClr>
                </a:solidFill>
                <a:latin typeface="Arial" panose="020B0604020202020204" pitchFamily="34" charset="0"/>
                <a:cs typeface="Arial" panose="020B0604020202020204" pitchFamily="34" charset="0"/>
              </a:rPr>
              <a:t>2</a:t>
            </a:r>
            <a:r>
              <a:rPr kumimoji="0" lang="en-US" altLang="vi-VN" sz="28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rPr>
              <a:t>.</a:t>
            </a:r>
            <a:r>
              <a:rPr lang="en-US" altLang="en-US" sz="2800" b="1" dirty="0">
                <a:solidFill>
                  <a:srgbClr val="203864"/>
                </a:solidFill>
                <a:latin typeface="Arial" panose="020B0604020202020204" pitchFamily="34" charset="0"/>
                <a:cs typeface="Arial" panose="020B0604020202020204" pitchFamily="34" charset="0"/>
                <a:sym typeface="+mn-ea"/>
              </a:rPr>
              <a:t> Lý do chọn đề tài</a:t>
            </a:r>
            <a:endParaRPr kumimoji="0" lang="en-US" altLang="vi-VN" sz="28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endParaRPr>
          </a:p>
        </p:txBody>
      </p:sp>
      <p:sp>
        <p:nvSpPr>
          <p:cNvPr id="7171" name="Slide Number Placeholder 3"/>
          <p:cNvSpPr txBox="1">
            <a:spLocks noGrp="1"/>
          </p:cNvSpPr>
          <p:nvPr>
            <p:ph type="sldNum" sz="quarter" idx="4"/>
          </p:nvPr>
        </p:nvSpPr>
        <p:spPr>
          <a:xfrm>
            <a:off x="6457950" y="6400800"/>
            <a:ext cx="2686050" cy="365125"/>
          </a:xfrm>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900" dirty="0">
                <a:cs typeface="Arial" panose="020B0604020202020204" pitchFamily="34" charset="0"/>
              </a:rPr>
              <a:t>4</a:t>
            </a:fld>
            <a:endParaRPr lang="en-US" altLang="en-US" sz="900" dirty="0">
              <a:cs typeface="Arial" panose="020B0604020202020204" pitchFamily="34" charset="0"/>
            </a:endParaRPr>
          </a:p>
        </p:txBody>
      </p:sp>
      <p:sp>
        <p:nvSpPr>
          <p:cNvPr id="3" name="Rectangle 2"/>
          <p:cNvSpPr/>
          <p:nvPr/>
        </p:nvSpPr>
        <p:spPr>
          <a:xfrm>
            <a:off x="762000" y="1089025"/>
            <a:ext cx="281940" cy="521970"/>
          </a:xfrm>
          <a:prstGeom prst="rect">
            <a:avLst/>
          </a:prstGeom>
        </p:spPr>
        <p:txBody>
          <a:bodyPr wrap="none">
            <a:spAutoFit/>
          </a:bodyPr>
          <a:lstStyle/>
          <a:p>
            <a:pPr algn="l" eaLnBrk="1" hangingPunct="1">
              <a:buNone/>
            </a:pPr>
            <a:r>
              <a:rPr lang="en-US" altLang="en-US" sz="2800" b="1" dirty="0">
                <a:solidFill>
                  <a:srgbClr val="203864"/>
                </a:solidFill>
                <a:cs typeface="Arial" panose="020B0604020202020204" pitchFamily="34" charset="0"/>
                <a:sym typeface="+mn-ea"/>
              </a:rPr>
              <a:t> </a:t>
            </a:r>
          </a:p>
        </p:txBody>
      </p:sp>
      <p:sp>
        <p:nvSpPr>
          <p:cNvPr id="4" name="Text Box 3"/>
          <p:cNvSpPr txBox="1"/>
          <p:nvPr/>
        </p:nvSpPr>
        <p:spPr>
          <a:xfrm>
            <a:off x="304800" y="1219200"/>
            <a:ext cx="5029200" cy="4953000"/>
          </a:xfrm>
          <a:prstGeom prst="rect">
            <a:avLst/>
          </a:prstGeom>
          <a:ln>
            <a:solidFill>
              <a:schemeClr val="tx1"/>
            </a:solidFill>
          </a:ln>
        </p:spPr>
        <p:txBody>
          <a:bodyPr wrap="square">
            <a:noAutofit/>
          </a:bodyPr>
          <a:lstStyle/>
          <a:p>
            <a:pPr algn="just">
              <a:lnSpc>
                <a:spcPct val="125000"/>
              </a:lnSpc>
            </a:pPr>
            <a:r>
              <a:rPr lang="vi-VN" dirty="0"/>
              <a:t>Việc quản lý và cấp phát học bổng tại các trường đại học hiện nay còn gặp nhiều bất cập do phương thức thủ công truyền thống. Quá trình tiếp nhận hồ sơ giấy và quản lý dữ liệu </a:t>
            </a:r>
            <a:r>
              <a:rPr lang="en-US" dirty="0" err="1"/>
              <a:t>thủ</a:t>
            </a:r>
            <a:r>
              <a:rPr lang="en-US" dirty="0"/>
              <a:t> </a:t>
            </a:r>
            <a:r>
              <a:rPr lang="en-US" dirty="0" err="1"/>
              <a:t>công</a:t>
            </a:r>
            <a:r>
              <a:rPr lang="en-US" dirty="0"/>
              <a:t> </a:t>
            </a:r>
            <a:r>
              <a:rPr lang="vi-VN" dirty="0"/>
              <a:t>bộc lộ nhiều hạn chế nghiêm trọng</a:t>
            </a:r>
            <a:endParaRPr lang="en-US" dirty="0"/>
          </a:p>
          <a:p>
            <a:pPr algn="just">
              <a:lnSpc>
                <a:spcPct val="125000"/>
              </a:lnSpc>
            </a:pPr>
            <a:endParaRPr lang="vi-VN" dirty="0"/>
          </a:p>
          <a:p>
            <a:pPr algn="just">
              <a:lnSpc>
                <a:spcPct val="125000"/>
              </a:lnSpc>
            </a:pPr>
            <a:r>
              <a:rPr lang="vi-VN" dirty="0"/>
              <a:t>Bên cạnh đó, sinh viên có hoàn cảnh khó khăn thường gặp khó khăn trong việc tiếp cận thông tin chính thống về các gói hỗ trợ, dẫn đến việc bỏ lỡ cơ hội được nhận học bổng.</a:t>
            </a:r>
          </a:p>
          <a:p>
            <a:pPr indent="457200" algn="just">
              <a:lnSpc>
                <a:spcPct val="125000"/>
              </a:lnSpc>
            </a:pPr>
            <a:endParaRPr lang="en-US" altLang="en-US" b="1" dirty="0">
              <a:cs typeface="Arial" panose="020B0604020202020204" pitchFamily="34" charset="0"/>
            </a:endParaRPr>
          </a:p>
        </p:txBody>
      </p:sp>
      <p:pic>
        <p:nvPicPr>
          <p:cNvPr id="7" name="Picture 6">
            <a:extLst>
              <a:ext uri="{FF2B5EF4-FFF2-40B4-BE49-F238E27FC236}">
                <a16:creationId xmlns:a16="http://schemas.microsoft.com/office/drawing/2014/main" id="{FD485B08-6FA2-E69E-0CBE-D2E44951FA8A}"/>
              </a:ext>
            </a:extLst>
          </p:cNvPr>
          <p:cNvPicPr>
            <a:picLocks noChangeAspect="1"/>
          </p:cNvPicPr>
          <p:nvPr/>
        </p:nvPicPr>
        <p:blipFill>
          <a:blip r:embed="rId2"/>
          <a:stretch>
            <a:fillRect/>
          </a:stretch>
        </p:blipFill>
        <p:spPr>
          <a:xfrm>
            <a:off x="5410200" y="1350010"/>
            <a:ext cx="3581400" cy="2190750"/>
          </a:xfrm>
          <a:prstGeom prst="rect">
            <a:avLst/>
          </a:prstGeom>
        </p:spPr>
      </p:pic>
      <p:pic>
        <p:nvPicPr>
          <p:cNvPr id="8" name="Picture 7" descr="Inspection ">
            <a:extLst>
              <a:ext uri="{FF2B5EF4-FFF2-40B4-BE49-F238E27FC236}">
                <a16:creationId xmlns:a16="http://schemas.microsoft.com/office/drawing/2014/main" id="{8975624A-1AA0-8B66-B113-11A392965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3847474"/>
            <a:ext cx="2057400" cy="18454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0E01DC9-92FB-68B9-EF03-8DF20064333E}"/>
              </a:ext>
            </a:extLst>
          </p:cNvPr>
          <p:cNvSpPr/>
          <p:nvPr/>
        </p:nvSpPr>
        <p:spPr>
          <a:xfrm>
            <a:off x="228600" y="1143000"/>
            <a:ext cx="3810000" cy="5181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628650" y="365125"/>
            <a:ext cx="7886700" cy="380365"/>
          </a:xfrm>
        </p:spPr>
        <p:txBody>
          <a:bodyPr/>
          <a:lstStyle/>
          <a:p>
            <a:r>
              <a:rPr lang="en-US" altLang="vi-VN" sz="2800" b="1" noProof="0" dirty="0">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2. </a:t>
            </a:r>
            <a:r>
              <a:rPr lang="en-US" altLang="en-US" sz="2800" b="1" dirty="0" err="1">
                <a:solidFill>
                  <a:schemeClr val="accent5">
                    <a:lumMod val="50000"/>
                  </a:schemeClr>
                </a:solidFill>
                <a:latin typeface="Arial" panose="020B0604020202020204" pitchFamily="34" charset="0"/>
                <a:cs typeface="Arial" panose="020B0604020202020204" pitchFamily="34" charset="0"/>
              </a:rPr>
              <a:t>Mục</a:t>
            </a:r>
            <a:r>
              <a:rPr lang="en-US" altLang="en-US" sz="2800" b="1" dirty="0">
                <a:solidFill>
                  <a:schemeClr val="accent5">
                    <a:lumMod val="50000"/>
                  </a:schemeClr>
                </a:solidFill>
                <a:latin typeface="Arial" panose="020B0604020202020204" pitchFamily="34" charset="0"/>
                <a:cs typeface="Arial" panose="020B0604020202020204" pitchFamily="34" charset="0"/>
              </a:rPr>
              <a:t> </a:t>
            </a:r>
            <a:r>
              <a:rPr lang="en-US" altLang="en-US" sz="2800" b="1" dirty="0" err="1">
                <a:solidFill>
                  <a:schemeClr val="accent5">
                    <a:lumMod val="50000"/>
                  </a:schemeClr>
                </a:solidFill>
                <a:latin typeface="Arial" panose="020B0604020202020204" pitchFamily="34" charset="0"/>
                <a:cs typeface="Arial" panose="020B0604020202020204" pitchFamily="34" charset="0"/>
              </a:rPr>
              <a:t>tiêu</a:t>
            </a:r>
            <a:r>
              <a:rPr lang="en-US" altLang="en-US" sz="2800" b="1" dirty="0">
                <a:solidFill>
                  <a:schemeClr val="accent5">
                    <a:lumMod val="50000"/>
                  </a:schemeClr>
                </a:solidFill>
                <a:latin typeface="Arial" panose="020B0604020202020204" pitchFamily="34" charset="0"/>
                <a:cs typeface="Arial" panose="020B0604020202020204" pitchFamily="34" charset="0"/>
              </a:rPr>
              <a:t> </a:t>
            </a:r>
            <a:r>
              <a:rPr lang="en-US" altLang="en-US" sz="2800" b="1" dirty="0" err="1">
                <a:solidFill>
                  <a:schemeClr val="accent5">
                    <a:lumMod val="50000"/>
                  </a:schemeClr>
                </a:solidFill>
                <a:latin typeface="Arial" panose="020B0604020202020204" pitchFamily="34" charset="0"/>
                <a:cs typeface="Arial" panose="020B0604020202020204" pitchFamily="34" charset="0"/>
              </a:rPr>
              <a:t>nghiên</a:t>
            </a:r>
            <a:r>
              <a:rPr lang="en-US" altLang="en-US" sz="2800" b="1" dirty="0">
                <a:solidFill>
                  <a:schemeClr val="accent5">
                    <a:lumMod val="50000"/>
                  </a:schemeClr>
                </a:solidFill>
                <a:latin typeface="Arial" panose="020B0604020202020204" pitchFamily="34" charset="0"/>
                <a:cs typeface="Arial" panose="020B0604020202020204" pitchFamily="34" charset="0"/>
              </a:rPr>
              <a:t> </a:t>
            </a:r>
            <a:r>
              <a:rPr lang="en-US" altLang="en-US" sz="2800" b="1" dirty="0" err="1">
                <a:solidFill>
                  <a:schemeClr val="accent5">
                    <a:lumMod val="50000"/>
                  </a:schemeClr>
                </a:solidFill>
                <a:latin typeface="Arial" panose="020B0604020202020204" pitchFamily="34" charset="0"/>
                <a:cs typeface="Arial" panose="020B0604020202020204" pitchFamily="34" charset="0"/>
              </a:rPr>
              <a:t>cứu</a:t>
            </a:r>
            <a:endParaRPr lang="en-US" altLang="en-US" sz="2800" b="1" dirty="0">
              <a:solidFill>
                <a:schemeClr val="accent5">
                  <a:lumMod val="50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28600" y="1143000"/>
            <a:ext cx="8839200" cy="5181600"/>
          </a:xfrm>
        </p:spPr>
        <p:style>
          <a:lnRef idx="2">
            <a:schemeClr val="dk1"/>
          </a:lnRef>
          <a:fillRef idx="1">
            <a:schemeClr val="lt1"/>
          </a:fillRef>
          <a:effectRef idx="0">
            <a:schemeClr val="dk1"/>
          </a:effectRef>
          <a:fontRef idx="minor">
            <a:schemeClr val="dk1"/>
          </a:fontRef>
        </p:style>
        <p:txBody>
          <a:bodyPr/>
          <a:lstStyle/>
          <a:p>
            <a:pPr marL="0" indent="0" algn="just">
              <a:lnSpc>
                <a:spcPct val="125000"/>
              </a:lnSpc>
              <a:buNone/>
            </a:pPr>
            <a:r>
              <a:rPr lang="vi-VN" altLang="en-US" sz="1800" b="1" dirty="0">
                <a:latin typeface="Arial" panose="020B0604020202020204" pitchFamily="34" charset="0"/>
                <a:cs typeface="Arial" panose="020B0604020202020204" pitchFamily="34" charset="0"/>
              </a:rPr>
              <a:t> </a:t>
            </a:r>
            <a:r>
              <a:rPr lang="vi-VN" altLang="en-US" sz="2000" b="1" dirty="0">
                <a:latin typeface="Arial" panose="020B0604020202020204" pitchFamily="34" charset="0"/>
                <a:cs typeface="Arial" panose="020B0604020202020204" pitchFamily="34" charset="0"/>
              </a:rPr>
              <a:t>Mục tiêu nghiên cứu: </a:t>
            </a:r>
          </a:p>
          <a:p>
            <a:pPr marL="0" indent="0" algn="just">
              <a:lnSpc>
                <a:spcPct val="125000"/>
              </a:lnSpc>
              <a:buNone/>
            </a:pPr>
            <a:r>
              <a:rPr lang="vi-VN" altLang="en-US" sz="1800" dirty="0">
                <a:latin typeface="Arial" panose="020B0604020202020204" pitchFamily="34" charset="0"/>
                <a:cs typeface="Arial" panose="020B0604020202020204" pitchFamily="34" charset="0"/>
              </a:rPr>
              <a:t>+ Xây dựng hệ thống tập trung quản lý thông tin giúp giảm thiểu việc quản lý </a:t>
            </a:r>
          </a:p>
          <a:p>
            <a:pPr marL="0" indent="0" algn="just">
              <a:lnSpc>
                <a:spcPct val="125000"/>
              </a:lnSpc>
              <a:buNone/>
            </a:pPr>
            <a:r>
              <a:rPr lang="vi-VN" altLang="en-US" sz="1800" dirty="0">
                <a:latin typeface="Arial" panose="020B0604020202020204" pitchFamily="34" charset="0"/>
                <a:cs typeface="Arial" panose="020B0604020202020204" pitchFamily="34" charset="0"/>
              </a:rPr>
              <a:t>bằng giấy tờ; </a:t>
            </a:r>
          </a:p>
          <a:p>
            <a:pPr marL="0" indent="0" algn="just">
              <a:lnSpc>
                <a:spcPct val="125000"/>
              </a:lnSpc>
              <a:buNone/>
            </a:pPr>
            <a:r>
              <a:rPr lang="vi-VN" altLang="en-US" sz="1800" dirty="0">
                <a:latin typeface="Arial" panose="020B0604020202020204" pitchFamily="34" charset="0"/>
                <a:cs typeface="Arial" panose="020B0604020202020204" pitchFamily="34" charset="0"/>
              </a:rPr>
              <a:t>+ Tạo ra một kênh thông tin chính thức, tiện lợi cho sinh viên trong việc tìm kiếm và nộp hồ sơ xin học bổng; </a:t>
            </a:r>
          </a:p>
          <a:p>
            <a:pPr marL="0" indent="0" algn="just">
              <a:lnSpc>
                <a:spcPct val="125000"/>
              </a:lnSpc>
              <a:buNone/>
            </a:pPr>
            <a:r>
              <a:rPr lang="vi-VN" altLang="en-US" sz="1800" dirty="0">
                <a:latin typeface="Arial" panose="020B0604020202020204" pitchFamily="34" charset="0"/>
                <a:cs typeface="Arial" panose="020B0604020202020204" pitchFamily="34" charset="0"/>
              </a:rPr>
              <a:t>+ Tối ưu hóa quy trình xét duyệt hồ sơ cho ban quản trị, đảm bảo tính công bằng, minh bạch và nhanh chóng; </a:t>
            </a:r>
          </a:p>
          <a:p>
            <a:pPr marL="0" indent="0" algn="just">
              <a:lnSpc>
                <a:spcPct val="125000"/>
              </a:lnSpc>
              <a:buNone/>
            </a:pPr>
            <a:r>
              <a:rPr lang="vi-VN" altLang="en-US" sz="1800" dirty="0">
                <a:latin typeface="Arial" panose="020B0604020202020204" pitchFamily="34" charset="0"/>
                <a:cs typeface="Arial" panose="020B0604020202020204" pitchFamily="34" charset="0"/>
              </a:rPr>
              <a:t>+ Cung cấp giải pháp giúp nhà trường quản lý học bổng dễ dàng theo dõi, tìm kiếm và thống kê thông tin. </a:t>
            </a:r>
          </a:p>
          <a:p>
            <a:pPr marL="0" indent="0" algn="just">
              <a:buNone/>
            </a:pPr>
            <a:endParaRPr lang="en-US" altLang="en-US" sz="18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105" y="153035"/>
            <a:ext cx="7467600" cy="715963"/>
          </a:xfrm>
        </p:spPr>
        <p:txBody>
          <a:bodyPr vert="horz" wrap="square" lIns="91440" tIns="45720" rIns="91440" bIns="45720" numCol="1" rtlCol="0" anchor="ctr" anchorCtr="0" compatLnSpc="1">
            <a:normAutofit/>
          </a:bodyPr>
          <a:lstStyle/>
          <a:p>
            <a:pPr marL="0" marR="0" lvl="0" indent="0" algn="just" defTabSz="685800" rtl="0" eaLnBrk="1" fontAlgn="auto" latinLnBrk="0" hangingPunct="1">
              <a:lnSpc>
                <a:spcPct val="90000"/>
              </a:lnSpc>
              <a:spcBef>
                <a:spcPct val="0"/>
              </a:spcBef>
              <a:spcAft>
                <a:spcPts val="0"/>
              </a:spcAft>
              <a:buClrTx/>
              <a:buSzTx/>
              <a:buFontTx/>
              <a:buNone/>
              <a:defRPr/>
            </a:pPr>
            <a:r>
              <a:rPr lang="en-US" altLang="vi-VN" sz="2800" b="1" noProof="0" dirty="0">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3. </a:t>
            </a:r>
            <a:r>
              <a:rPr kumimoji="0" lang="en-US" altLang="en-US" sz="2800" b="1" i="0" u="none" strike="noStrike" kern="1200" cap="none" spc="0" normalizeH="0" baseline="0" noProof="0" dirty="0" err="1">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Nội</a:t>
            </a:r>
            <a:r>
              <a:rPr kumimoji="0" lang="en-US" altLang="en-US" sz="28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 dung </a:t>
            </a:r>
            <a:r>
              <a:rPr kumimoji="0" lang="en-US" altLang="en-US" sz="2800" b="1" i="0" u="none" strike="noStrike" kern="1200" cap="none" spc="0" normalizeH="0" baseline="0" noProof="0" dirty="0" err="1">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và</a:t>
            </a:r>
            <a:r>
              <a:rPr kumimoji="0" lang="en-US" altLang="en-US" sz="28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 </a:t>
            </a:r>
            <a:r>
              <a:rPr kumimoji="0" lang="en-US" altLang="en-US" sz="2800" b="1" i="0" u="none" strike="noStrike" kern="1200" cap="none" spc="0" normalizeH="0" baseline="0" noProof="0" dirty="0" err="1">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đối</a:t>
            </a:r>
            <a:r>
              <a:rPr kumimoji="0" lang="en-US" altLang="en-US" sz="28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 </a:t>
            </a:r>
            <a:r>
              <a:rPr kumimoji="0" lang="en-US" altLang="en-US" sz="2800" b="1" i="0" u="none" strike="noStrike" kern="1200" cap="none" spc="0" normalizeH="0" baseline="0" noProof="0" dirty="0" err="1">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tượng</a:t>
            </a:r>
            <a:r>
              <a:rPr kumimoji="0" lang="en-US" altLang="en-US" sz="28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 </a:t>
            </a:r>
            <a:r>
              <a:rPr kumimoji="0" lang="en-US" altLang="en-US" sz="2800" b="1" i="0" u="none" strike="noStrike" kern="1200" cap="none" spc="0" normalizeH="0" baseline="0" noProof="0" dirty="0" err="1">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nghiên</a:t>
            </a:r>
            <a:r>
              <a:rPr kumimoji="0" lang="en-US" altLang="en-US" sz="28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 </a:t>
            </a:r>
            <a:r>
              <a:rPr kumimoji="0" lang="en-US" altLang="en-US" sz="2800" b="1" i="0" u="none" strike="noStrike" kern="1200" cap="none" spc="0" normalizeH="0" baseline="0" noProof="0" dirty="0" err="1">
                <a:ln>
                  <a:noFill/>
                </a:ln>
                <a:solidFill>
                  <a:schemeClr val="accent5">
                    <a:lumMod val="50000"/>
                  </a:schemeClr>
                </a:solidFill>
                <a:effectLst/>
                <a:uLnTx/>
                <a:uFillTx/>
                <a:latin typeface="Arial" panose="020B0604020202020204" pitchFamily="34" charset="0"/>
                <a:cs typeface="Arial" panose="020B0604020202020204" pitchFamily="34" charset="0"/>
                <a:sym typeface="+mn-ea"/>
              </a:rPr>
              <a:t>cứu</a:t>
            </a:r>
            <a:endParaRPr kumimoji="0" lang="en-US" altLang="en-US" sz="2800" b="1" i="0" u="none" strike="noStrike" kern="1200" cap="none" spc="0" normalizeH="0" baseline="0" noProof="0" dirty="0">
              <a:ln>
                <a:noFill/>
              </a:ln>
              <a:solidFill>
                <a:schemeClr val="accent5">
                  <a:lumMod val="50000"/>
                </a:schemeClr>
              </a:solidFill>
              <a:effectLst/>
              <a:uLnTx/>
              <a:uFillTx/>
              <a:latin typeface="Arial" panose="020B0604020202020204" pitchFamily="34" charset="0"/>
              <a:cs typeface="Arial" panose="020B0604020202020204" pitchFamily="34" charset="0"/>
              <a:sym typeface="+mn-ea"/>
            </a:endParaRPr>
          </a:p>
        </p:txBody>
      </p:sp>
      <p:sp>
        <p:nvSpPr>
          <p:cNvPr id="8195" name="Slide Number Placeholder 3"/>
          <p:cNvSpPr txBox="1">
            <a:spLocks noGrp="1"/>
          </p:cNvSpPr>
          <p:nvPr>
            <p:ph type="sldNum" sz="quarter" idx="4"/>
          </p:nvPr>
        </p:nvSpPr>
        <p:spPr>
          <a:xfrm>
            <a:off x="6457950" y="6400800"/>
            <a:ext cx="2686050" cy="365125"/>
          </a:xfrm>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just" eaLnBrk="1" hangingPunct="1"/>
            <a:fld id="{9A0DB2DC-4C9A-4742-B13C-FB6460FD3503}" type="slidenum">
              <a:rPr lang="en-US" altLang="en-US" sz="900" dirty="0">
                <a:cs typeface="Arial" panose="020B0604020202020204" pitchFamily="34" charset="0"/>
              </a:rPr>
              <a:t>6</a:t>
            </a:fld>
            <a:endParaRPr lang="en-US" altLang="en-US" sz="900" dirty="0">
              <a:cs typeface="Arial" panose="020B0604020202020204" pitchFamily="34" charset="0"/>
            </a:endParaRPr>
          </a:p>
        </p:txBody>
      </p:sp>
      <p:sp>
        <p:nvSpPr>
          <p:cNvPr id="5" name="Text Box 4"/>
          <p:cNvSpPr txBox="1"/>
          <p:nvPr/>
        </p:nvSpPr>
        <p:spPr>
          <a:xfrm>
            <a:off x="5474970" y="504825"/>
            <a:ext cx="3048000" cy="368300"/>
          </a:xfrm>
          <a:prstGeom prst="rect">
            <a:avLst/>
          </a:prstGeom>
          <a:noFill/>
        </p:spPr>
        <p:txBody>
          <a:bodyPr wrap="square" rtlCol="0">
            <a:spAutoFit/>
          </a:bodyPr>
          <a:lstStyle/>
          <a:p>
            <a:endParaRPr lang="en-US">
              <a:cs typeface="Arial" panose="020B0604020202020204" pitchFamily="34" charset="0"/>
            </a:endParaRPr>
          </a:p>
        </p:txBody>
      </p:sp>
      <p:sp>
        <p:nvSpPr>
          <p:cNvPr id="4" name="TextBox 3">
            <a:extLst>
              <a:ext uri="{FF2B5EF4-FFF2-40B4-BE49-F238E27FC236}">
                <a16:creationId xmlns:a16="http://schemas.microsoft.com/office/drawing/2014/main" id="{46941C81-B380-49EC-C8B9-CF6F9907E5D2}"/>
              </a:ext>
            </a:extLst>
          </p:cNvPr>
          <p:cNvSpPr txBox="1"/>
          <p:nvPr/>
        </p:nvSpPr>
        <p:spPr>
          <a:xfrm>
            <a:off x="4982496" y="1143000"/>
            <a:ext cx="4001730" cy="352737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5000"/>
              </a:lnSpc>
            </a:pPr>
            <a:r>
              <a:rPr lang="vi-VN" b="1" dirty="0">
                <a:latin typeface="Arial" panose="020B0604020202020204" pitchFamily="34" charset="0"/>
                <a:cs typeface="Arial" panose="020B0604020202020204" pitchFamily="34" charset="0"/>
              </a:rPr>
              <a:t>Đối tượng nghiên cứu: </a:t>
            </a:r>
            <a:endParaRPr lang="en-US" b="1" dirty="0">
              <a:latin typeface="Arial" panose="020B0604020202020204" pitchFamily="34" charset="0"/>
              <a:cs typeface="Arial" panose="020B0604020202020204" pitchFamily="34" charset="0"/>
            </a:endParaRPr>
          </a:p>
          <a:p>
            <a:pPr>
              <a:lnSpc>
                <a:spcPct val="125000"/>
              </a:lnSpc>
            </a:pPr>
            <a:r>
              <a:rPr lang="vi-VN" dirty="0">
                <a:latin typeface="Arial" panose="020B0604020202020204" pitchFamily="34" charset="0"/>
                <a:cs typeface="Arial" panose="020B0604020202020204" pitchFamily="34" charset="0"/>
              </a:rPr>
              <a:t>– Các quy trình nghiệp vụ liên quan đến việc cấp và quản lý học bổng cho sinh viên có hoàn cảnh khó khăn;</a:t>
            </a:r>
            <a:endParaRPr lang="en-US" dirty="0">
              <a:latin typeface="Arial" panose="020B0604020202020204" pitchFamily="34" charset="0"/>
              <a:cs typeface="Arial" panose="020B0604020202020204" pitchFamily="34" charset="0"/>
            </a:endParaRPr>
          </a:p>
          <a:p>
            <a:pPr>
              <a:lnSpc>
                <a:spcPct val="125000"/>
              </a:lnSpc>
            </a:pPr>
            <a:r>
              <a:rPr lang="vi-VN" dirty="0">
                <a:latin typeface="Arial" panose="020B0604020202020204" pitchFamily="34" charset="0"/>
                <a:cs typeface="Arial" panose="020B0604020202020204" pitchFamily="34" charset="0"/>
              </a:rPr>
              <a:t> – Các nhóm người dùng chính: </a:t>
            </a:r>
          </a:p>
          <a:p>
            <a:pPr>
              <a:lnSpc>
                <a:spcPct val="125000"/>
              </a:lnSpc>
            </a:pP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 Admin</a:t>
            </a:r>
            <a:endParaRPr lang="en-US" dirty="0">
              <a:latin typeface="Arial" panose="020B0604020202020204" pitchFamily="34" charset="0"/>
              <a:cs typeface="Arial" panose="020B0604020202020204" pitchFamily="34" charset="0"/>
            </a:endParaRPr>
          </a:p>
          <a:p>
            <a:pPr>
              <a:lnSpc>
                <a:spcPct val="125000"/>
              </a:lnSpc>
            </a:pP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 Cán bộ quản lý</a:t>
            </a:r>
          </a:p>
          <a:p>
            <a:pPr>
              <a:lnSpc>
                <a:spcPct val="125000"/>
              </a:lnSpc>
            </a:pP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 Sinh viên</a:t>
            </a:r>
          </a:p>
          <a:p>
            <a:pPr>
              <a:lnSpc>
                <a:spcPct val="125000"/>
              </a:lnSpc>
            </a:pPr>
            <a:r>
              <a:rPr lang="en-US" dirty="0">
                <a:latin typeface="Arial" panose="020B0604020202020204" pitchFamily="34" charset="0"/>
                <a:cs typeface="Arial" panose="020B0604020202020204" pitchFamily="34" charset="0"/>
              </a:rPr>
              <a:t>      </a:t>
            </a:r>
            <a:r>
              <a:rPr lang="vi-VN" dirty="0">
                <a:latin typeface="Arial" panose="020B0604020202020204" pitchFamily="34" charset="0"/>
                <a:cs typeface="Arial" panose="020B0604020202020204" pitchFamily="34" charset="0"/>
              </a:rPr>
              <a:t>+ Nhà tài trợ</a:t>
            </a:r>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B57EF10-1EDD-F392-6C02-B447C41DA827}"/>
              </a:ext>
            </a:extLst>
          </p:cNvPr>
          <p:cNvSpPr txBox="1"/>
          <p:nvPr/>
        </p:nvSpPr>
        <p:spPr>
          <a:xfrm>
            <a:off x="159774" y="1174955"/>
            <a:ext cx="4564626" cy="491237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25000"/>
              </a:lnSpc>
            </a:pPr>
            <a:r>
              <a:rPr lang="en-US" altLang="en-US" sz="2000" b="1" dirty="0" err="1">
                <a:latin typeface="Arial" panose="020B0604020202020204" pitchFamily="34" charset="0"/>
                <a:cs typeface="Arial" panose="020B0604020202020204" pitchFamily="34" charset="0"/>
              </a:rPr>
              <a:t>Nội</a:t>
            </a:r>
            <a:r>
              <a:rPr lang="en-US" altLang="en-US" sz="2000" b="1" dirty="0">
                <a:latin typeface="Arial" panose="020B0604020202020204" pitchFamily="34" charset="0"/>
                <a:cs typeface="Arial" panose="020B0604020202020204" pitchFamily="34" charset="0"/>
              </a:rPr>
              <a:t> dung </a:t>
            </a:r>
            <a:r>
              <a:rPr lang="en-US" altLang="en-US" sz="2000" b="1" dirty="0" err="1">
                <a:latin typeface="Arial" panose="020B0604020202020204" pitchFamily="34" charset="0"/>
                <a:cs typeface="Arial" panose="020B0604020202020204" pitchFamily="34" charset="0"/>
              </a:rPr>
              <a:t>nghiên</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cứu</a:t>
            </a:r>
            <a:r>
              <a:rPr lang="en-US" altLang="en-US" sz="2000" b="1" dirty="0">
                <a:latin typeface="Arial" panose="020B0604020202020204" pitchFamily="34" charset="0"/>
                <a:cs typeface="Arial" panose="020B0604020202020204" pitchFamily="34" charset="0"/>
              </a:rPr>
              <a:t>:</a:t>
            </a:r>
          </a:p>
          <a:p>
            <a:pPr algn="just">
              <a:lnSpc>
                <a:spcPct val="125000"/>
              </a:lnSpc>
            </a:pPr>
            <a:r>
              <a:rPr lang="vi-VN" altLang="en-US" dirty="0">
                <a:latin typeface="Arial" panose="020B0604020202020204" pitchFamily="34" charset="0"/>
                <a:cs typeface="Arial" panose="020B0604020202020204" pitchFamily="34" charset="0"/>
              </a:rPr>
              <a:t>+ Tìm hiểu và phân tích quy trình quản lý, xét duyệt học bổng thực tế tại các </a:t>
            </a:r>
          </a:p>
          <a:p>
            <a:pPr algn="just">
              <a:lnSpc>
                <a:spcPct val="125000"/>
              </a:lnSpc>
            </a:pPr>
            <a:r>
              <a:rPr lang="vi-VN" altLang="en-US" dirty="0">
                <a:latin typeface="Arial" panose="020B0604020202020204" pitchFamily="34" charset="0"/>
                <a:cs typeface="Arial" panose="020B0604020202020204" pitchFamily="34" charset="0"/>
              </a:rPr>
              <a:t>trường đại học; </a:t>
            </a:r>
          </a:p>
          <a:p>
            <a:pPr algn="just">
              <a:lnSpc>
                <a:spcPct val="125000"/>
              </a:lnSpc>
            </a:pPr>
            <a:r>
              <a:rPr lang="vi-VN" altLang="en-US" dirty="0">
                <a:latin typeface="Arial" panose="020B0604020202020204" pitchFamily="34" charset="0"/>
                <a:cs typeface="Arial" panose="020B0604020202020204" pitchFamily="34" charset="0"/>
              </a:rPr>
              <a:t>+ Xác định các đối tượng tham gia hệ thống: </a:t>
            </a:r>
          </a:p>
          <a:p>
            <a:pPr algn="just">
              <a:lnSpc>
                <a:spcPct val="125000"/>
              </a:lnSpc>
            </a:pPr>
            <a:r>
              <a:rPr lang="vi-VN" altLang="en-US" dirty="0">
                <a:latin typeface="Arial" panose="020B0604020202020204" pitchFamily="34" charset="0"/>
                <a:cs typeface="Arial" panose="020B0604020202020204" pitchFamily="34" charset="0"/>
              </a:rPr>
              <a:t>Xây dựng hệ thống quản lý chương trình học bổng dành cho sinh viên khó khăn. </a:t>
            </a:r>
          </a:p>
          <a:p>
            <a:pPr algn="just">
              <a:lnSpc>
                <a:spcPct val="125000"/>
              </a:lnSpc>
            </a:pPr>
            <a:r>
              <a:rPr lang="vi-VN" altLang="en-US" dirty="0">
                <a:latin typeface="Arial" panose="020B0604020202020204" pitchFamily="34" charset="0"/>
                <a:cs typeface="Arial" panose="020B0604020202020204" pitchFamily="34" charset="0"/>
              </a:rPr>
              <a:t>+ Thiết kế kiến trúc hệ thống và các quy trình nghiệp vụ; </a:t>
            </a:r>
          </a:p>
          <a:p>
            <a:pPr algn="just">
              <a:lnSpc>
                <a:spcPct val="125000"/>
              </a:lnSpc>
            </a:pPr>
            <a:r>
              <a:rPr lang="vi-VN" altLang="en-US" dirty="0">
                <a:latin typeface="Arial" panose="020B0604020202020204" pitchFamily="34" charset="0"/>
                <a:cs typeface="Arial" panose="020B0604020202020204" pitchFamily="34" charset="0"/>
              </a:rPr>
              <a:t>+ Thiết kế mô hình cơ sở dữ liệu quan hệ để lưu trữ thông tin về sinh viên, học bổng, hồ sơ và nhà tài trợ </a:t>
            </a:r>
          </a:p>
          <a:p>
            <a:pPr algn="just">
              <a:lnSpc>
                <a:spcPct val="125000"/>
              </a:lnSpc>
            </a:pPr>
            <a:r>
              <a:rPr lang="vi-VN" altLang="en-US" dirty="0">
                <a:latin typeface="Arial" panose="020B0604020202020204" pitchFamily="34" charset="0"/>
                <a:cs typeface="Arial" panose="020B0604020202020204" pitchFamily="34" charset="0"/>
              </a:rPr>
              <a:t>+ Xây dựng các chức năng của hệ thống</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1637"/>
            <a:ext cx="6610350" cy="467360"/>
          </a:xfrm>
        </p:spPr>
        <p:txBody>
          <a:bodyPr/>
          <a:lstStyle/>
          <a:p>
            <a:r>
              <a:rPr lang="en-US" altLang="en-US" sz="2800" b="1" dirty="0">
                <a:latin typeface="Calibri" panose="020F0502020204030204" charset="0"/>
                <a:cs typeface="Calibri" panose="020F0502020204030204" charset="0"/>
              </a:rPr>
              <a:t> </a:t>
            </a:r>
            <a:r>
              <a:rPr lang="en-US" altLang="en-US" sz="2800" b="1" dirty="0">
                <a:solidFill>
                  <a:schemeClr val="accent5">
                    <a:lumMod val="50000"/>
                  </a:schemeClr>
                </a:solidFill>
                <a:latin typeface="Arial" panose="020B0604020202020204" pitchFamily="34" charset="0"/>
                <a:cs typeface="Arial" panose="020B0604020202020204" pitchFamily="34" charset="0"/>
              </a:rPr>
              <a:t>4. </a:t>
            </a:r>
            <a:r>
              <a:rPr lang="en-US" altLang="en-US" sz="2800" b="1" dirty="0" err="1">
                <a:solidFill>
                  <a:schemeClr val="accent5">
                    <a:lumMod val="50000"/>
                  </a:schemeClr>
                </a:solidFill>
                <a:latin typeface="Arial" panose="020B0604020202020204" pitchFamily="34" charset="0"/>
                <a:cs typeface="Arial" panose="020B0604020202020204" pitchFamily="34" charset="0"/>
              </a:rPr>
              <a:t>Hiện</a:t>
            </a:r>
            <a:r>
              <a:rPr lang="en-US" altLang="en-US" sz="2800" b="1" dirty="0">
                <a:solidFill>
                  <a:schemeClr val="accent5">
                    <a:lumMod val="50000"/>
                  </a:schemeClr>
                </a:solidFill>
                <a:latin typeface="Arial" panose="020B0604020202020204" pitchFamily="34" charset="0"/>
                <a:cs typeface="Arial" panose="020B0604020202020204" pitchFamily="34" charset="0"/>
              </a:rPr>
              <a:t> </a:t>
            </a:r>
            <a:r>
              <a:rPr lang="en-US" altLang="en-US" sz="2800" b="1" dirty="0" err="1">
                <a:solidFill>
                  <a:schemeClr val="accent5">
                    <a:lumMod val="50000"/>
                  </a:schemeClr>
                </a:solidFill>
                <a:latin typeface="Arial" panose="020B0604020202020204" pitchFamily="34" charset="0"/>
                <a:cs typeface="Arial" panose="020B0604020202020204" pitchFamily="34" charset="0"/>
              </a:rPr>
              <a:t>thực</a:t>
            </a:r>
            <a:r>
              <a:rPr lang="en-US" altLang="en-US" sz="2800" b="1" dirty="0">
                <a:solidFill>
                  <a:schemeClr val="accent5">
                    <a:lumMod val="50000"/>
                  </a:schemeClr>
                </a:solidFill>
                <a:latin typeface="Arial" panose="020B0604020202020204" pitchFamily="34" charset="0"/>
                <a:cs typeface="Arial" panose="020B0604020202020204" pitchFamily="34" charset="0"/>
              </a:rPr>
              <a:t> </a:t>
            </a:r>
            <a:r>
              <a:rPr lang="en-US" altLang="en-US" sz="2800" b="1" dirty="0" err="1">
                <a:solidFill>
                  <a:schemeClr val="accent5">
                    <a:lumMod val="50000"/>
                  </a:schemeClr>
                </a:solidFill>
                <a:latin typeface="Arial" panose="020B0604020202020204" pitchFamily="34" charset="0"/>
                <a:cs typeface="Arial" panose="020B0604020202020204" pitchFamily="34" charset="0"/>
              </a:rPr>
              <a:t>hóa</a:t>
            </a:r>
            <a:r>
              <a:rPr lang="en-US" altLang="en-US" sz="2800" b="1" dirty="0">
                <a:solidFill>
                  <a:schemeClr val="accent5">
                    <a:lumMod val="50000"/>
                  </a:schemeClr>
                </a:solidFill>
                <a:latin typeface="Arial" panose="020B0604020202020204" pitchFamily="34" charset="0"/>
                <a:cs typeface="Arial" panose="020B0604020202020204" pitchFamily="34" charset="0"/>
              </a:rPr>
              <a:t> </a:t>
            </a:r>
            <a:r>
              <a:rPr lang="en-US" altLang="en-US" sz="2800" b="1" dirty="0" err="1">
                <a:solidFill>
                  <a:schemeClr val="accent5">
                    <a:lumMod val="50000"/>
                  </a:schemeClr>
                </a:solidFill>
                <a:latin typeface="Arial" panose="020B0604020202020204" pitchFamily="34" charset="0"/>
                <a:cs typeface="Arial" panose="020B0604020202020204" pitchFamily="34" charset="0"/>
              </a:rPr>
              <a:t>nghiên</a:t>
            </a:r>
            <a:r>
              <a:rPr lang="en-US" altLang="en-US" sz="2800" b="1" dirty="0">
                <a:solidFill>
                  <a:schemeClr val="accent5">
                    <a:lumMod val="50000"/>
                  </a:schemeClr>
                </a:solidFill>
                <a:latin typeface="Arial" panose="020B0604020202020204" pitchFamily="34" charset="0"/>
                <a:cs typeface="Arial" panose="020B0604020202020204" pitchFamily="34" charset="0"/>
              </a:rPr>
              <a:t> </a:t>
            </a:r>
            <a:r>
              <a:rPr lang="en-US" altLang="en-US" sz="2800" b="1" dirty="0" err="1">
                <a:solidFill>
                  <a:schemeClr val="accent5">
                    <a:lumMod val="50000"/>
                  </a:schemeClr>
                </a:solidFill>
                <a:latin typeface="Arial" panose="020B0604020202020204" pitchFamily="34" charset="0"/>
                <a:cs typeface="Arial" panose="020B0604020202020204" pitchFamily="34" charset="0"/>
              </a:rPr>
              <a:t>cứu</a:t>
            </a:r>
            <a:endParaRPr lang="en-US" altLang="en-US" sz="2800" b="1" dirty="0">
              <a:solidFill>
                <a:schemeClr val="accent5">
                  <a:lumMod val="50000"/>
                </a:schemeClr>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143000"/>
            <a:ext cx="5180965" cy="4953000"/>
          </a:xfrm>
        </p:spPr>
        <p:txBody>
          <a:bodyPr/>
          <a:lstStyle/>
          <a:p>
            <a:pPr marL="0" indent="0">
              <a:lnSpc>
                <a:spcPct val="150000"/>
              </a:lnSpc>
              <a:spcBef>
                <a:spcPts val="0"/>
              </a:spcBef>
              <a:buNone/>
            </a:pPr>
            <a:r>
              <a:rPr lang="en-US" altLang="en-US" sz="2000" b="1" dirty="0">
                <a:latin typeface="Arial" panose="020B0604020202020204" pitchFamily="34" charset="0"/>
                <a:cs typeface="Arial" panose="020B0604020202020204" pitchFamily="34" charset="0"/>
              </a:rPr>
              <a:t>4.1 </a:t>
            </a:r>
            <a:r>
              <a:rPr lang="en-US" altLang="en-US" sz="2000" b="1" dirty="0" err="1">
                <a:latin typeface="Arial" panose="020B0604020202020204" pitchFamily="34" charset="0"/>
                <a:cs typeface="Arial" panose="020B0604020202020204" pitchFamily="34" charset="0"/>
              </a:rPr>
              <a:t>Mô</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hình</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chức</a:t>
            </a:r>
            <a:r>
              <a:rPr lang="en-US" altLang="en-US" sz="2000" b="1" dirty="0">
                <a:latin typeface="Arial" panose="020B0604020202020204" pitchFamily="34" charset="0"/>
                <a:cs typeface="Arial" panose="020B0604020202020204" pitchFamily="34" charset="0"/>
              </a:rPr>
              <a:t> </a:t>
            </a:r>
            <a:r>
              <a:rPr lang="en-US" altLang="en-US" sz="2000" b="1" dirty="0" err="1">
                <a:latin typeface="Arial" panose="020B0604020202020204" pitchFamily="34" charset="0"/>
                <a:cs typeface="Arial" panose="020B0604020202020204" pitchFamily="34" charset="0"/>
              </a:rPr>
              <a:t>năng</a:t>
            </a:r>
            <a:endParaRPr lang="en-US" altLang="en-US" sz="2000" b="1" dirty="0">
              <a:latin typeface="Arial" panose="020B0604020202020204" pitchFamily="34" charset="0"/>
              <a:cs typeface="Arial" panose="020B0604020202020204" pitchFamily="34" charset="0"/>
            </a:endParaRPr>
          </a:p>
        </p:txBody>
      </p:sp>
      <p:sp>
        <p:nvSpPr>
          <p:cNvPr id="6" name="Rectangle 4">
            <a:extLst>
              <a:ext uri="{FF2B5EF4-FFF2-40B4-BE49-F238E27FC236}">
                <a16:creationId xmlns:a16="http://schemas.microsoft.com/office/drawing/2014/main" id="{F455DE52-5EFA-F82D-38E9-6D91A644D2EE}"/>
              </a:ext>
            </a:extLst>
          </p:cNvPr>
          <p:cNvSpPr>
            <a:spLocks noChangeArrowheads="1"/>
          </p:cNvSpPr>
          <p:nvPr/>
        </p:nvSpPr>
        <p:spPr bwMode="auto">
          <a:xfrm>
            <a:off x="1447800" y="219170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51" name="Picture 3">
            <a:extLst>
              <a:ext uri="{FF2B5EF4-FFF2-40B4-BE49-F238E27FC236}">
                <a16:creationId xmlns:a16="http://schemas.microsoft.com/office/drawing/2014/main" id="{D229658D-08A3-D5AA-EDE7-C55D02FC66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243" y="1676400"/>
            <a:ext cx="5999163" cy="4351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0581B-E1F6-577D-B662-47C65123CEB9}"/>
              </a:ext>
            </a:extLst>
          </p:cNvPr>
          <p:cNvSpPr>
            <a:spLocks noGrp="1"/>
          </p:cNvSpPr>
          <p:nvPr>
            <p:ph type="title"/>
          </p:nvPr>
        </p:nvSpPr>
        <p:spPr>
          <a:xfrm>
            <a:off x="628650" y="365125"/>
            <a:ext cx="7886700" cy="549275"/>
          </a:xfrm>
        </p:spPr>
        <p:txBody>
          <a:bodyPr/>
          <a:lstStyle/>
          <a:p>
            <a:r>
              <a:rPr lang="en-US" b="1" dirty="0">
                <a:latin typeface="Arial" panose="020B0604020202020204" pitchFamily="34" charset="0"/>
                <a:cs typeface="Arial" panose="020B0604020202020204" pitchFamily="34" charset="0"/>
              </a:rPr>
              <a:t>4.2 </a:t>
            </a:r>
            <a:r>
              <a:rPr lang="en-US" b="1" dirty="0" err="1">
                <a:latin typeface="Arial" panose="020B0604020202020204" pitchFamily="34" charset="0"/>
                <a:cs typeface="Arial" panose="020B0604020202020204" pitchFamily="34" charset="0"/>
              </a:rPr>
              <a:t>Mô</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hình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thực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thể</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kết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hợp</a:t>
            </a:r>
            <a:r>
              <a:rPr lang="en-US" b="1" dirty="0">
                <a:latin typeface="Arial" panose="020B0604020202020204" pitchFamily="34" charset="0"/>
                <a:cs typeface="Arial" panose="020B0604020202020204" pitchFamily="34" charset="0"/>
              </a:rPr>
              <a:t> (ERD) </a:t>
            </a:r>
          </a:p>
        </p:txBody>
      </p:sp>
      <p:pic>
        <p:nvPicPr>
          <p:cNvPr id="3074" name="Picture 1">
            <a:extLst>
              <a:ext uri="{FF2B5EF4-FFF2-40B4-BE49-F238E27FC236}">
                <a16:creationId xmlns:a16="http://schemas.microsoft.com/office/drawing/2014/main" id="{FA0D29C9-870E-B9DC-EB32-5012B099A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066800"/>
            <a:ext cx="6324600" cy="5258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9464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016B2-0ED5-662B-1296-DCFA83C91D89}"/>
              </a:ext>
            </a:extLst>
          </p:cNvPr>
          <p:cNvSpPr>
            <a:spLocks noGrp="1"/>
          </p:cNvSpPr>
          <p:nvPr>
            <p:ph type="title"/>
          </p:nvPr>
        </p:nvSpPr>
        <p:spPr>
          <a:xfrm>
            <a:off x="628650" y="365125"/>
            <a:ext cx="7886700" cy="473075"/>
          </a:xfrm>
        </p:spPr>
        <p:txBody>
          <a:bodyPr/>
          <a:lstStyle/>
          <a:p>
            <a:r>
              <a:rPr lang="en-US" b="1" dirty="0">
                <a:latin typeface="Arial" panose="020B0604020202020204" pitchFamily="34" charset="0"/>
                <a:cs typeface="Arial" panose="020B0604020202020204" pitchFamily="34" charset="0"/>
              </a:rPr>
              <a:t>4.3 </a:t>
            </a:r>
            <a:r>
              <a:rPr lang="en-US" b="1" dirty="0" err="1">
                <a:latin typeface="Arial" panose="020B0604020202020204" pitchFamily="34" charset="0"/>
                <a:cs typeface="Arial" panose="020B0604020202020204" pitchFamily="34" charset="0"/>
              </a:rPr>
              <a:t>Mô</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hình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dữ</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liệu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vật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lý</a:t>
            </a:r>
            <a:r>
              <a:rPr lang="en-US" b="1" dirty="0">
                <a:latin typeface="Arial" panose="020B0604020202020204" pitchFamily="34" charset="0"/>
                <a:cs typeface="Arial" panose="020B0604020202020204" pitchFamily="34" charset="0"/>
              </a:rPr>
              <a:t> </a:t>
            </a:r>
          </a:p>
        </p:txBody>
      </p:sp>
      <p:pic>
        <p:nvPicPr>
          <p:cNvPr id="4098" name="Picture 1">
            <a:extLst>
              <a:ext uri="{FF2B5EF4-FFF2-40B4-BE49-F238E27FC236}">
                <a16:creationId xmlns:a16="http://schemas.microsoft.com/office/drawing/2014/main" id="{354C9FAE-EF69-8852-A299-E67C634DA3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00919"/>
            <a:ext cx="6629400" cy="485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5440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B559D-CFC9-BC92-398D-1EF755353ED6}"/>
              </a:ext>
            </a:extLst>
          </p:cNvPr>
          <p:cNvSpPr>
            <a:spLocks noGrp="1"/>
          </p:cNvSpPr>
          <p:nvPr>
            <p:ph type="title"/>
          </p:nvPr>
        </p:nvSpPr>
        <p:spPr>
          <a:xfrm>
            <a:off x="628650" y="365125"/>
            <a:ext cx="7886700" cy="473075"/>
          </a:xfrm>
        </p:spPr>
        <p:txBody>
          <a:bodyPr/>
          <a:lstStyle/>
          <a:p>
            <a:r>
              <a:rPr lang="en-US" b="1" dirty="0">
                <a:latin typeface="Arial" panose="020B0604020202020204" pitchFamily="34" charset="0"/>
                <a:cs typeface="Arial" panose="020B0604020202020204" pitchFamily="34" charset="0"/>
              </a:rPr>
              <a:t>4.4 </a:t>
            </a:r>
            <a:r>
              <a:rPr lang="en-US" b="1" dirty="0" err="1">
                <a:latin typeface="Arial" panose="020B0604020202020204" pitchFamily="34" charset="0"/>
                <a:cs typeface="Arial" panose="020B0604020202020204" pitchFamily="34" charset="0"/>
              </a:rPr>
              <a:t>Mô</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hình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lược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đồ</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cơ</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sở</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dữ</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liệu</a:t>
            </a:r>
            <a:endParaRPr lang="en-US" b="1" dirty="0">
              <a:latin typeface="Arial" panose="020B0604020202020204" pitchFamily="34" charset="0"/>
              <a:cs typeface="Arial" panose="020B0604020202020204" pitchFamily="34" charset="0"/>
            </a:endParaRPr>
          </a:p>
        </p:txBody>
      </p:sp>
      <p:pic>
        <p:nvPicPr>
          <p:cNvPr id="5122" name="Picture 2">
            <a:extLst>
              <a:ext uri="{FF2B5EF4-FFF2-40B4-BE49-F238E27FC236}">
                <a16:creationId xmlns:a16="http://schemas.microsoft.com/office/drawing/2014/main" id="{20CEF948-BF7F-FF15-C23F-1391AAAAE1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90600"/>
            <a:ext cx="7296150" cy="5244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8297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5193-A53E-60E4-3FFB-877CEF16143C}"/>
              </a:ext>
            </a:extLst>
          </p:cNvPr>
          <p:cNvSpPr>
            <a:spLocks noGrp="1"/>
          </p:cNvSpPr>
          <p:nvPr>
            <p:ph type="title"/>
          </p:nvPr>
        </p:nvSpPr>
        <p:spPr>
          <a:xfrm>
            <a:off x="628650" y="365125"/>
            <a:ext cx="7886700" cy="396875"/>
          </a:xfrm>
        </p:spPr>
        <p:txBody>
          <a:bodyPr/>
          <a:lstStyle/>
          <a:p>
            <a:r>
              <a:rPr lang="en-US" b="1" dirty="0">
                <a:latin typeface="Arial" panose="020B0604020202020204" pitchFamily="34" charset="0"/>
                <a:cs typeface="Arial" panose="020B0604020202020204" pitchFamily="34" charset="0"/>
              </a:rPr>
              <a:t>5. </a:t>
            </a:r>
            <a:r>
              <a:rPr lang="en-US" b="1" dirty="0" err="1">
                <a:latin typeface="Arial" panose="020B0604020202020204" pitchFamily="34" charset="0"/>
                <a:cs typeface="Arial" panose="020B0604020202020204" pitchFamily="34" charset="0"/>
              </a:rPr>
              <a:t>Kết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quả</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nghiên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cứu</a:t>
            </a:r>
            <a:r>
              <a:rPr lang="en-US" b="1" dirty="0">
                <a:latin typeface="Arial" panose="020B0604020202020204" pitchFamily="34" charset="0"/>
                <a:cs typeface="Arial" panose="020B0604020202020204" pitchFamily="34" charset="0"/>
              </a:rPr>
              <a:t>  </a:t>
            </a:r>
          </a:p>
        </p:txBody>
      </p:sp>
      <p:pic>
        <p:nvPicPr>
          <p:cNvPr id="6146" name="Picture 1">
            <a:extLst>
              <a:ext uri="{FF2B5EF4-FFF2-40B4-BE49-F238E27FC236}">
                <a16:creationId xmlns:a16="http://schemas.microsoft.com/office/drawing/2014/main" id="{43FF4A60-E1CC-B8E2-AED3-E408A58A62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7886700" cy="4956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8640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1C95258-451B-DBFB-E29F-4D0F8ECF187F}"/>
              </a:ext>
            </a:extLst>
          </p:cNvPr>
          <p:cNvSpPr>
            <a:spLocks noGrp="1"/>
          </p:cNvSpPr>
          <p:nvPr>
            <p:ph type="title"/>
          </p:nvPr>
        </p:nvSpPr>
        <p:spPr>
          <a:xfrm>
            <a:off x="628650" y="365125"/>
            <a:ext cx="7886700" cy="396875"/>
          </a:xfrm>
        </p:spPr>
        <p:txBody>
          <a:bodyPr/>
          <a:lstStyle/>
          <a:p>
            <a:r>
              <a:rPr lang="en-US" b="1" dirty="0">
                <a:latin typeface="Arial" panose="020B0604020202020204" pitchFamily="34" charset="0"/>
                <a:cs typeface="Arial" panose="020B0604020202020204" pitchFamily="34" charset="0"/>
              </a:rPr>
              <a:t>5. </a:t>
            </a:r>
            <a:r>
              <a:rPr lang="en-US" b="1" dirty="0" err="1">
                <a:latin typeface="Arial" panose="020B0604020202020204" pitchFamily="34" charset="0"/>
                <a:cs typeface="Arial" panose="020B0604020202020204" pitchFamily="34" charset="0"/>
              </a:rPr>
              <a:t>Kết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quả</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nghiên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cứu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tiếp</a:t>
            </a:r>
            <a:r>
              <a:rPr lang="en-US" b="1" dirty="0">
                <a:latin typeface="Arial" panose="020B0604020202020204" pitchFamily="34" charset="0"/>
                <a:cs typeface="Arial" panose="020B0604020202020204" pitchFamily="34" charset="0"/>
              </a:rPr>
              <a:t>) </a:t>
            </a:r>
          </a:p>
        </p:txBody>
      </p:sp>
      <p:pic>
        <p:nvPicPr>
          <p:cNvPr id="7170" name="Picture 1">
            <a:extLst>
              <a:ext uri="{FF2B5EF4-FFF2-40B4-BE49-F238E27FC236}">
                <a16:creationId xmlns:a16="http://schemas.microsoft.com/office/drawing/2014/main" id="{A526CE92-F5B2-1DCA-FDB0-27140B2239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43000"/>
            <a:ext cx="8725514"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2595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0A7A-F10B-4F9D-9BD5-72162100BBB0}"/>
              </a:ext>
            </a:extLst>
          </p:cNvPr>
          <p:cNvSpPr>
            <a:spLocks noGrp="1"/>
          </p:cNvSpPr>
          <p:nvPr>
            <p:ph type="title"/>
          </p:nvPr>
        </p:nvSpPr>
        <p:spPr>
          <a:xfrm>
            <a:off x="628650" y="365125"/>
            <a:ext cx="7886700" cy="396875"/>
          </a:xfrm>
        </p:spPr>
        <p:txBody>
          <a:bodyPr/>
          <a:lstStyle/>
          <a:p>
            <a:r>
              <a:rPr lang="en-US" b="1" dirty="0">
                <a:latin typeface="Arial" panose="020B0604020202020204" pitchFamily="34" charset="0"/>
                <a:cs typeface="Arial" panose="020B0604020202020204" pitchFamily="34" charset="0"/>
              </a:rPr>
              <a:t>6. </a:t>
            </a:r>
            <a:r>
              <a:rPr lang="en-US" b="1" dirty="0" err="1">
                <a:latin typeface="Arial" panose="020B0604020202020204" pitchFamily="34" charset="0"/>
                <a:cs typeface="Arial" panose="020B0604020202020204" pitchFamily="34" charset="0"/>
              </a:rPr>
              <a:t>Kết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quả</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nghiên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cứu</a:t>
            </a:r>
            <a:endParaRPr 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7D2A296-DA08-838F-628D-8FE4D3282C3A}"/>
              </a:ext>
            </a:extLst>
          </p:cNvPr>
          <p:cNvSpPr txBox="1"/>
          <p:nvPr/>
        </p:nvSpPr>
        <p:spPr>
          <a:xfrm>
            <a:off x="219075" y="1135857"/>
            <a:ext cx="8782050" cy="5078313"/>
          </a:xfrm>
          <a:prstGeom prst="rect">
            <a:avLst/>
          </a:prstGeom>
          <a:noFill/>
        </p:spPr>
        <p:txBody>
          <a:bodyPr wrap="square" rtlCol="0">
            <a:spAutoFit/>
          </a:bodyPr>
          <a:lstStyle/>
          <a:p>
            <a:pPr algn="just"/>
            <a:r>
              <a:rPr lang="vi-VN" b="1" dirty="0">
                <a:cs typeface="Arial" panose="020B0604020202020204" pitchFamily="34" charset="0"/>
              </a:rPr>
              <a:t>Đối với Sinh viên:</a:t>
            </a:r>
            <a:endParaRPr lang="en-US" dirty="0">
              <a:cs typeface="Arial" panose="020B0604020202020204" pitchFamily="34" charset="0"/>
            </a:endParaRPr>
          </a:p>
          <a:p>
            <a:pPr algn="just"/>
            <a:r>
              <a:rPr lang="en-US" dirty="0">
                <a:cs typeface="Arial" panose="020B0604020202020204" pitchFamily="34" charset="0"/>
              </a:rPr>
              <a:t>   + </a:t>
            </a:r>
            <a:r>
              <a:rPr lang="vi-VN" dirty="0">
                <a:cs typeface="Arial" panose="020B0604020202020204" pitchFamily="34" charset="0"/>
              </a:rPr>
              <a:t>Cung cấp một kênh thông tin chính thống, </a:t>
            </a:r>
            <a:endParaRPr lang="en-US" dirty="0">
              <a:cs typeface="Arial" panose="020B0604020202020204" pitchFamily="34" charset="0"/>
            </a:endParaRPr>
          </a:p>
          <a:p>
            <a:pPr algn="just"/>
            <a:r>
              <a:rPr lang="vi-VN" dirty="0">
                <a:cs typeface="Arial" panose="020B0604020202020204" pitchFamily="34" charset="0"/>
              </a:rPr>
              <a:t>giúp sinh viên dễ dàng tra cứu và tiếp cận</a:t>
            </a:r>
            <a:endParaRPr lang="en-US" dirty="0">
              <a:cs typeface="Arial" panose="020B0604020202020204" pitchFamily="34" charset="0"/>
            </a:endParaRPr>
          </a:p>
          <a:p>
            <a:pPr algn="just"/>
            <a:r>
              <a:rPr lang="vi-VN" dirty="0">
                <a:cs typeface="Arial" panose="020B0604020202020204" pitchFamily="34" charset="0"/>
              </a:rPr>
              <a:t>các nguồn hỗ trợ tài chính.</a:t>
            </a:r>
            <a:endParaRPr lang="en-US" dirty="0">
              <a:cs typeface="Arial" panose="020B0604020202020204" pitchFamily="34" charset="0"/>
            </a:endParaRPr>
          </a:p>
          <a:p>
            <a:pPr algn="just"/>
            <a:r>
              <a:rPr lang="en-US" dirty="0">
                <a:cs typeface="Arial" panose="020B0604020202020204" pitchFamily="34" charset="0"/>
              </a:rPr>
              <a:t>   + </a:t>
            </a:r>
            <a:r>
              <a:rPr lang="vi-VN" dirty="0">
                <a:cs typeface="Arial" panose="020B0604020202020204" pitchFamily="34" charset="0"/>
              </a:rPr>
              <a:t>Đơn giản hóa thủ tục hành chính</a:t>
            </a:r>
            <a:r>
              <a:rPr lang="en-US" dirty="0">
                <a:cs typeface="Arial" panose="020B0604020202020204" pitchFamily="34" charset="0"/>
              </a:rPr>
              <a:t>.</a:t>
            </a:r>
          </a:p>
          <a:p>
            <a:pPr algn="just"/>
            <a:r>
              <a:rPr lang="en-US" dirty="0">
                <a:cs typeface="Arial" panose="020B0604020202020204" pitchFamily="34" charset="0"/>
              </a:rPr>
              <a:t>   + </a:t>
            </a:r>
            <a:r>
              <a:rPr lang="vi-VN" dirty="0">
                <a:cs typeface="Arial" panose="020B0604020202020204" pitchFamily="34" charset="0"/>
              </a:rPr>
              <a:t>Giúp sinh viên chủ động theo dõi</a:t>
            </a:r>
            <a:endParaRPr lang="en-US" dirty="0">
              <a:cs typeface="Arial" panose="020B0604020202020204" pitchFamily="34" charset="0"/>
            </a:endParaRPr>
          </a:p>
          <a:p>
            <a:pPr algn="just"/>
            <a:r>
              <a:rPr lang="vi-VN" dirty="0">
                <a:cs typeface="Arial" panose="020B0604020202020204" pitchFamily="34" charset="0"/>
              </a:rPr>
              <a:t>trạng thái hồ sơ.</a:t>
            </a:r>
            <a:endParaRPr lang="en-US" dirty="0">
              <a:cs typeface="Arial" panose="020B0604020202020204" pitchFamily="34" charset="0"/>
            </a:endParaRPr>
          </a:p>
          <a:p>
            <a:pPr algn="just"/>
            <a:r>
              <a:rPr lang="vi-VN" b="1" dirty="0">
                <a:cs typeface="Arial" panose="020B0604020202020204" pitchFamily="34" charset="0"/>
              </a:rPr>
              <a:t>Đối với Nhà trường:</a:t>
            </a:r>
            <a:endParaRPr lang="en-US" dirty="0">
              <a:cs typeface="Arial" panose="020B0604020202020204" pitchFamily="34" charset="0"/>
            </a:endParaRPr>
          </a:p>
          <a:p>
            <a:pPr algn="just"/>
            <a:r>
              <a:rPr lang="en-US" dirty="0">
                <a:cs typeface="Arial" panose="020B0604020202020204" pitchFamily="34" charset="0"/>
              </a:rPr>
              <a:t>   + </a:t>
            </a:r>
            <a:r>
              <a:rPr lang="vi-VN" dirty="0">
                <a:cs typeface="Arial" panose="020B0604020202020204" pitchFamily="34" charset="0"/>
              </a:rPr>
              <a:t>Giảm tải 80% khối lượng công việc thủ công</a:t>
            </a:r>
            <a:r>
              <a:rPr lang="en-US" dirty="0">
                <a:cs typeface="Arial" panose="020B0604020202020204" pitchFamily="34" charset="0"/>
              </a:rPr>
              <a:t>.</a:t>
            </a:r>
          </a:p>
          <a:p>
            <a:pPr algn="just"/>
            <a:r>
              <a:rPr lang="en-US" dirty="0">
                <a:cs typeface="Arial" panose="020B0604020202020204" pitchFamily="34" charset="0"/>
              </a:rPr>
              <a:t>   + </a:t>
            </a:r>
            <a:r>
              <a:rPr lang="vi-VN" dirty="0">
                <a:cs typeface="Arial" panose="020B0604020202020204" pitchFamily="34" charset="0"/>
              </a:rPr>
              <a:t>Hỗ trợ công tác giải ngân nhanh chóng</a:t>
            </a:r>
            <a:endParaRPr lang="en-US" dirty="0">
              <a:cs typeface="Arial" panose="020B0604020202020204" pitchFamily="34" charset="0"/>
            </a:endParaRPr>
          </a:p>
          <a:p>
            <a:pPr algn="just"/>
            <a:r>
              <a:rPr lang="vi-VN" b="1" dirty="0">
                <a:cs typeface="Arial" panose="020B0604020202020204" pitchFamily="34" charset="0"/>
              </a:rPr>
              <a:t>Đối với Nhà tài trợ:</a:t>
            </a:r>
            <a:r>
              <a:rPr lang="vi-VN" dirty="0">
                <a:cs typeface="Arial" panose="020B0604020202020204" pitchFamily="34" charset="0"/>
              </a:rPr>
              <a:t> Đảm bảo tính minh bạch tài chính nhờ hệ thống. Nhà tài trợ có thể giám sát dòng tiền và xem danh sách sinh viên thụ hưởng thực tế.</a:t>
            </a:r>
            <a:endParaRPr lang="en-US" dirty="0">
              <a:cs typeface="Arial" panose="020B0604020202020204" pitchFamily="34" charset="0"/>
            </a:endParaRPr>
          </a:p>
          <a:p>
            <a:pPr algn="just"/>
            <a:r>
              <a:rPr lang="vi-VN" b="1" dirty="0">
                <a:cs typeface="Arial" panose="020B0604020202020204" pitchFamily="34" charset="0"/>
              </a:rPr>
              <a:t>Đối với Hệ thống:</a:t>
            </a:r>
            <a:endParaRPr lang="en-US" dirty="0">
              <a:cs typeface="Arial" panose="020B0604020202020204" pitchFamily="34" charset="0"/>
            </a:endParaRPr>
          </a:p>
          <a:p>
            <a:pPr algn="just"/>
            <a:r>
              <a:rPr lang="en-US" dirty="0">
                <a:cs typeface="Arial" panose="020B0604020202020204" pitchFamily="34" charset="0"/>
              </a:rPr>
              <a:t>   + </a:t>
            </a:r>
            <a:r>
              <a:rPr lang="vi-VN" dirty="0">
                <a:cs typeface="Arial" panose="020B0604020202020204" pitchFamily="34" charset="0"/>
              </a:rPr>
              <a:t>Giao diện người dùng (UI/UX) được thiết kế thân thiện, hiện đại và tương thích tốt trên nhiều thiết bị.</a:t>
            </a:r>
            <a:endParaRPr lang="en-US" dirty="0">
              <a:cs typeface="Arial" panose="020B0604020202020204" pitchFamily="34" charset="0"/>
            </a:endParaRPr>
          </a:p>
          <a:p>
            <a:pPr algn="just"/>
            <a:r>
              <a:rPr lang="en-US" dirty="0">
                <a:cs typeface="Arial" panose="020B0604020202020204" pitchFamily="34" charset="0"/>
              </a:rPr>
              <a:t>   + </a:t>
            </a:r>
            <a:r>
              <a:rPr lang="vi-VN" dirty="0">
                <a:cs typeface="Arial" panose="020B0604020202020204" pitchFamily="34" charset="0"/>
              </a:rPr>
              <a:t>Hệ thống hoạt động ổn định, tốc độ phản hồi nhanh, đáp ứng tốt các yêu cầu phi chức năng về hiệu năng và trải nghiệm người dùng.</a:t>
            </a:r>
            <a:endParaRPr lang="en-US" dirty="0">
              <a:cs typeface="Arial" panose="020B0604020202020204" pitchFamily="34" charset="0"/>
            </a:endParaRPr>
          </a:p>
          <a:p>
            <a:pPr algn="just"/>
            <a:endParaRPr lang="en-US" dirty="0">
              <a:cs typeface="Arial" panose="020B0604020202020204" pitchFamily="34" charset="0"/>
            </a:endParaRPr>
          </a:p>
        </p:txBody>
      </p:sp>
      <p:pic>
        <p:nvPicPr>
          <p:cNvPr id="5" name="Picture 4">
            <a:extLst>
              <a:ext uri="{FF2B5EF4-FFF2-40B4-BE49-F238E27FC236}">
                <a16:creationId xmlns:a16="http://schemas.microsoft.com/office/drawing/2014/main" id="{E5FA752C-BF58-D95D-4667-368CEAC2BC85}"/>
              </a:ext>
            </a:extLst>
          </p:cNvPr>
          <p:cNvPicPr>
            <a:picLocks noChangeAspect="1"/>
          </p:cNvPicPr>
          <p:nvPr/>
        </p:nvPicPr>
        <p:blipFill>
          <a:blip r:embed="rId2"/>
          <a:stretch>
            <a:fillRect/>
          </a:stretch>
        </p:blipFill>
        <p:spPr>
          <a:xfrm>
            <a:off x="5142634" y="1098986"/>
            <a:ext cx="3782291" cy="2133600"/>
          </a:xfrm>
          <a:prstGeom prst="rect">
            <a:avLst/>
          </a:prstGeom>
        </p:spPr>
      </p:pic>
    </p:spTree>
    <p:extLst>
      <p:ext uri="{BB962C8B-B14F-4D97-AF65-F5344CB8AC3E}">
        <p14:creationId xmlns:p14="http://schemas.microsoft.com/office/powerpoint/2010/main" val="1544125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228600"/>
            <a:ext cx="2724150" cy="480060"/>
          </a:xfrm>
        </p:spPr>
        <p:txBody>
          <a:bodyPr/>
          <a:lstStyle/>
          <a:p>
            <a:r>
              <a:rPr lang="en-US" sz="2800" b="1" dirty="0">
                <a:solidFill>
                  <a:schemeClr val="accent5">
                    <a:lumMod val="50000"/>
                  </a:schemeClr>
                </a:solidFill>
                <a:latin typeface="Arial" panose="020B0604020202020204" pitchFamily="34" charset="0"/>
                <a:cs typeface="Arial" panose="020B0604020202020204" pitchFamily="34" charset="0"/>
              </a:rPr>
              <a:t>7. </a:t>
            </a:r>
            <a:r>
              <a:rPr lang="en-US" sz="2800" b="1" dirty="0" err="1">
                <a:solidFill>
                  <a:schemeClr val="accent5">
                    <a:lumMod val="50000"/>
                  </a:schemeClr>
                </a:solidFill>
                <a:latin typeface="Arial" panose="020B0604020202020204" pitchFamily="34" charset="0"/>
                <a:cs typeface="Arial" panose="020B0604020202020204" pitchFamily="34" charset="0"/>
              </a:rPr>
              <a:t>Kết</a:t>
            </a:r>
            <a:r>
              <a:rPr lang="en-US" sz="2800" b="1" dirty="0">
                <a:solidFill>
                  <a:schemeClr val="accent5">
                    <a:lumMod val="50000"/>
                  </a:schemeClr>
                </a:solidFill>
                <a:latin typeface="Arial" panose="020B0604020202020204" pitchFamily="34" charset="0"/>
                <a:cs typeface="Arial" panose="020B0604020202020204" pitchFamily="34" charset="0"/>
              </a:rPr>
              <a:t> </a:t>
            </a:r>
            <a:r>
              <a:rPr lang="en-US" sz="2800" b="1" dirty="0" err="1">
                <a:solidFill>
                  <a:schemeClr val="accent5">
                    <a:lumMod val="50000"/>
                  </a:schemeClr>
                </a:solidFill>
                <a:latin typeface="Arial" panose="020B0604020202020204" pitchFamily="34" charset="0"/>
                <a:cs typeface="Arial" panose="020B0604020202020204" pitchFamily="34" charset="0"/>
              </a:rPr>
              <a:t>luận</a:t>
            </a:r>
            <a:endParaRPr lang="en-US" sz="2800" b="1" dirty="0">
              <a:solidFill>
                <a:schemeClr val="accent5">
                  <a:lumMod val="50000"/>
                </a:schemeClr>
              </a:solidFill>
              <a:latin typeface="Arial" panose="020B0604020202020204" pitchFamily="34" charset="0"/>
              <a:cs typeface="Arial" panose="020B0604020202020204" pitchFamily="34" charset="0"/>
            </a:endParaRPr>
          </a:p>
        </p:txBody>
      </p:sp>
      <p:sp>
        <p:nvSpPr>
          <p:cNvPr id="5" name="Text Box 4"/>
          <p:cNvSpPr txBox="1"/>
          <p:nvPr/>
        </p:nvSpPr>
        <p:spPr>
          <a:xfrm>
            <a:off x="490691" y="3511610"/>
            <a:ext cx="8265160" cy="2031325"/>
          </a:xfrm>
          <a:prstGeom prst="rect">
            <a:avLst/>
          </a:prstGeom>
          <a:noFill/>
        </p:spPr>
        <p:txBody>
          <a:bodyPr wrap="square" rtlCol="0">
            <a:spAutoFit/>
          </a:bodyPr>
          <a:lstStyle/>
          <a:p>
            <a:r>
              <a:rPr lang="en-US" altLang="en-US" b="1" dirty="0" err="1">
                <a:sym typeface="+mn-ea"/>
              </a:rPr>
              <a:t>Hướng phát triển tương lai</a:t>
            </a:r>
            <a:r>
              <a:rPr lang="en-US" altLang="en-US" dirty="0" err="1">
                <a:sym typeface="+mn-ea"/>
              </a:rPr>
              <a:t>:</a:t>
            </a:r>
          </a:p>
          <a:p>
            <a:r>
              <a:rPr lang="en-US" altLang="en-US" dirty="0" err="1">
                <a:sym typeface="+mn-ea"/>
              </a:rPr>
              <a:t>Ứng</a:t>
            </a:r>
            <a:r>
              <a:rPr lang="en-US" altLang="en-US" dirty="0">
                <a:sym typeface="+mn-ea"/>
              </a:rPr>
              <a:t> </a:t>
            </a:r>
            <a:r>
              <a:rPr lang="en-US" altLang="en-US" dirty="0" err="1">
                <a:sym typeface="+mn-ea"/>
              </a:rPr>
              <a:t>dụng</a:t>
            </a:r>
            <a:r>
              <a:rPr lang="en-US" altLang="en-US" dirty="0">
                <a:sym typeface="+mn-ea"/>
              </a:rPr>
              <a:t> </a:t>
            </a:r>
            <a:r>
              <a:rPr lang="en-US" altLang="en-US" dirty="0" err="1">
                <a:sym typeface="+mn-ea"/>
              </a:rPr>
              <a:t>có</a:t>
            </a:r>
            <a:r>
              <a:rPr lang="en-US" altLang="en-US" dirty="0">
                <a:sym typeface="+mn-ea"/>
              </a:rPr>
              <a:t> </a:t>
            </a:r>
            <a:r>
              <a:rPr lang="en-US" altLang="en-US" dirty="0" err="1">
                <a:sym typeface="+mn-ea"/>
              </a:rPr>
              <a:t>thể</a:t>
            </a:r>
            <a:r>
              <a:rPr lang="en-US" altLang="en-US" dirty="0">
                <a:sym typeface="+mn-ea"/>
              </a:rPr>
              <a:t> </a:t>
            </a:r>
            <a:r>
              <a:rPr lang="en-US" altLang="en-US" dirty="0" err="1">
                <a:sym typeface="+mn-ea"/>
              </a:rPr>
              <a:t>mở</a:t>
            </a:r>
            <a:r>
              <a:rPr lang="en-US" altLang="en-US" dirty="0">
                <a:sym typeface="+mn-ea"/>
              </a:rPr>
              <a:t> </a:t>
            </a:r>
            <a:r>
              <a:rPr lang="en-US" altLang="en-US" dirty="0" err="1">
                <a:sym typeface="+mn-ea"/>
              </a:rPr>
              <a:t>rộng</a:t>
            </a:r>
            <a:r>
              <a:rPr lang="en-US" altLang="en-US" dirty="0">
                <a:sym typeface="+mn-ea"/>
              </a:rPr>
              <a:t> </a:t>
            </a:r>
            <a:r>
              <a:rPr lang="en-US" altLang="en-US" dirty="0" err="1">
                <a:sym typeface="+mn-ea"/>
              </a:rPr>
              <a:t>và</a:t>
            </a:r>
            <a:r>
              <a:rPr lang="en-US" altLang="en-US" dirty="0">
                <a:sym typeface="+mn-ea"/>
              </a:rPr>
              <a:t> </a:t>
            </a:r>
            <a:r>
              <a:rPr lang="en-US" altLang="en-US" dirty="0" err="1">
                <a:sym typeface="+mn-ea"/>
              </a:rPr>
              <a:t>phát</a:t>
            </a:r>
            <a:r>
              <a:rPr lang="en-US" altLang="en-US" dirty="0">
                <a:sym typeface="+mn-ea"/>
              </a:rPr>
              <a:t> </a:t>
            </a:r>
            <a:r>
              <a:rPr lang="en-US" altLang="en-US" dirty="0" err="1">
                <a:sym typeface="+mn-ea"/>
              </a:rPr>
              <a:t>triển</a:t>
            </a:r>
            <a:r>
              <a:rPr lang="en-US" altLang="en-US" dirty="0">
                <a:sym typeface="+mn-ea"/>
              </a:rPr>
              <a:t> </a:t>
            </a:r>
            <a:r>
              <a:rPr lang="en-US" altLang="en-US" dirty="0" err="1">
                <a:sym typeface="+mn-ea"/>
              </a:rPr>
              <a:t>thêm</a:t>
            </a:r>
            <a:r>
              <a:rPr lang="en-US" altLang="en-US" dirty="0">
                <a:sym typeface="+mn-ea"/>
              </a:rPr>
              <a:t> </a:t>
            </a:r>
            <a:r>
              <a:rPr lang="en-US" altLang="en-US" dirty="0" err="1">
                <a:sym typeface="+mn-ea"/>
              </a:rPr>
              <a:t>trong</a:t>
            </a:r>
            <a:r>
              <a:rPr lang="en-US" altLang="en-US" dirty="0">
                <a:sym typeface="+mn-ea"/>
              </a:rPr>
              <a:t> </a:t>
            </a:r>
            <a:r>
              <a:rPr lang="en-US" altLang="en-US" dirty="0" err="1">
                <a:sym typeface="+mn-ea"/>
              </a:rPr>
              <a:t>tương</a:t>
            </a:r>
            <a:r>
              <a:rPr lang="en-US" altLang="en-US" dirty="0">
                <a:sym typeface="+mn-ea"/>
              </a:rPr>
              <a:t> lai: </a:t>
            </a:r>
            <a:endParaRPr lang="en-US" altLang="en-US" dirty="0"/>
          </a:p>
          <a:p>
            <a:pPr marL="285750" indent="-285750">
              <a:buFont typeface="Arial" panose="020B0604020202020204" pitchFamily="34" charset="0"/>
              <a:buChar char="•"/>
            </a:pPr>
            <a:r>
              <a:rPr lang="en-US" dirty="0" err="1"/>
              <a:t>Tích</a:t>
            </a:r>
            <a:r>
              <a:rPr lang="en-US" dirty="0"/>
              <a:t> </a:t>
            </a:r>
            <a:r>
              <a:rPr lang="en-US" dirty="0" err="1"/>
              <a:t>hợp</a:t>
            </a:r>
            <a:r>
              <a:rPr lang="en-US" dirty="0"/>
              <a:t> AI </a:t>
            </a:r>
            <a:r>
              <a:rPr lang="en-US" dirty="0" err="1"/>
              <a:t>gợi</a:t>
            </a:r>
            <a:r>
              <a:rPr lang="en-US" dirty="0"/>
              <a:t> ý </a:t>
            </a:r>
            <a:r>
              <a:rPr lang="en-US" dirty="0" err="1"/>
              <a:t>học</a:t>
            </a:r>
            <a:r>
              <a:rPr lang="en-US" dirty="0"/>
              <a:t> </a:t>
            </a:r>
            <a:r>
              <a:rPr lang="en-US" dirty="0" err="1"/>
              <a:t>bổng</a:t>
            </a:r>
            <a:endParaRPr lang="en-US" dirty="0"/>
          </a:p>
          <a:p>
            <a:pPr marL="285750" indent="-285750">
              <a:buFont typeface="Arial" panose="020B0604020202020204" pitchFamily="34" charset="0"/>
              <a:buChar char="•"/>
            </a:pPr>
            <a:r>
              <a:rPr lang="en-US" dirty="0"/>
              <a:t>Chatbot </a:t>
            </a:r>
            <a:r>
              <a:rPr lang="en-US" dirty="0" err="1"/>
              <a:t>hỗ</a:t>
            </a:r>
            <a:r>
              <a:rPr lang="en-US" dirty="0"/>
              <a:t> </a:t>
            </a:r>
            <a:r>
              <a:rPr lang="en-US" dirty="0" err="1"/>
              <a:t>trợ</a:t>
            </a:r>
            <a:r>
              <a:rPr lang="en-US" dirty="0"/>
              <a:t> </a:t>
            </a:r>
            <a:r>
              <a:rPr lang="en-US" dirty="0" err="1"/>
              <a:t>trực</a:t>
            </a:r>
            <a:r>
              <a:rPr lang="en-US" dirty="0"/>
              <a:t> </a:t>
            </a:r>
            <a:r>
              <a:rPr lang="en-US" dirty="0" err="1"/>
              <a:t>tuyến</a:t>
            </a:r>
            <a:endParaRPr lang="en-US" dirty="0"/>
          </a:p>
          <a:p>
            <a:pPr marL="285750" indent="-285750">
              <a:buFont typeface="Arial" panose="020B0604020202020204" pitchFamily="34" charset="0"/>
              <a:buChar char="•"/>
            </a:pPr>
            <a:r>
              <a:rPr lang="en-US" dirty="0" err="1"/>
              <a:t>Kết</a:t>
            </a:r>
            <a:r>
              <a:rPr lang="en-US" dirty="0"/>
              <a:t> </a:t>
            </a:r>
            <a:r>
              <a:rPr lang="en-US" dirty="0" err="1"/>
              <a:t>nối</a:t>
            </a:r>
            <a:r>
              <a:rPr lang="en-US" dirty="0"/>
              <a:t> </a:t>
            </a:r>
            <a:r>
              <a:rPr lang="en-US" dirty="0" err="1"/>
              <a:t>hệ</a:t>
            </a:r>
            <a:r>
              <a:rPr lang="en-US" dirty="0"/>
              <a:t> </a:t>
            </a:r>
            <a:r>
              <a:rPr lang="en-US" dirty="0" err="1"/>
              <a:t>thống</a:t>
            </a:r>
            <a:r>
              <a:rPr lang="en-US" dirty="0"/>
              <a:t> </a:t>
            </a:r>
            <a:r>
              <a:rPr lang="en-US" dirty="0" err="1"/>
              <a:t>đào</a:t>
            </a:r>
            <a:r>
              <a:rPr lang="en-US" dirty="0"/>
              <a:t> </a:t>
            </a:r>
            <a:r>
              <a:rPr lang="en-US" dirty="0" err="1"/>
              <a:t>tạo</a:t>
            </a:r>
            <a:endParaRPr lang="en-US" dirty="0"/>
          </a:p>
          <a:p>
            <a:pPr marL="285750" indent="-285750">
              <a:buFont typeface="Arial" panose="020B0604020202020204" pitchFamily="34" charset="0"/>
              <a:buChar char="•"/>
            </a:pPr>
            <a:r>
              <a:rPr lang="en-US" dirty="0" err="1"/>
              <a:t>Mở</a:t>
            </a:r>
            <a:r>
              <a:rPr lang="en-US" dirty="0"/>
              <a:t> </a:t>
            </a:r>
            <a:r>
              <a:rPr lang="en-US" dirty="0" err="1"/>
              <a:t>rộng</a:t>
            </a:r>
            <a:r>
              <a:rPr lang="en-US" dirty="0"/>
              <a:t> </a:t>
            </a:r>
            <a:r>
              <a:rPr lang="en-US" dirty="0" err="1"/>
              <a:t>mạng</a:t>
            </a:r>
            <a:r>
              <a:rPr lang="en-US" dirty="0"/>
              <a:t> </a:t>
            </a:r>
            <a:r>
              <a:rPr lang="en-US" dirty="0" err="1"/>
              <a:t>lưới</a:t>
            </a:r>
            <a:endParaRPr lang="en-US" altLang="en-US" dirty="0"/>
          </a:p>
          <a:p>
            <a:endParaRPr lang="en-US" dirty="0"/>
          </a:p>
        </p:txBody>
      </p:sp>
      <p:sp>
        <p:nvSpPr>
          <p:cNvPr id="7" name="Text Box 6"/>
          <p:cNvSpPr txBox="1"/>
          <p:nvPr/>
        </p:nvSpPr>
        <p:spPr>
          <a:xfrm>
            <a:off x="533401" y="1295400"/>
            <a:ext cx="6629400" cy="1477328"/>
          </a:xfrm>
          <a:prstGeom prst="rect">
            <a:avLst/>
          </a:prstGeom>
          <a:noFill/>
        </p:spPr>
        <p:txBody>
          <a:bodyPr wrap="square" rtlCol="0">
            <a:spAutoFit/>
          </a:bodyPr>
          <a:lstStyle/>
          <a:p>
            <a:pPr algn="just"/>
            <a:r>
              <a:rPr lang="vi-VN" dirty="0"/>
              <a:t>Đề tài "Xây dựng hệ thống quản lý chương trình học bổng dành cho sinh viên khó khăn" đã hoàn thành xuất sắc các mục tiêu nghiên cứu và triển khai ban đầu, mang lại một giải pháp phần mềm toàn diện giúp số hóa quy trình xét duyệt và cấp phát học bổng tại các trường đại học</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3"/>
          <p:cNvSpPr txBox="1">
            <a:spLocks noGrp="1"/>
          </p:cNvSpPr>
          <p:nvPr>
            <p:ph type="sldNum" sz="quarter" idx="4"/>
          </p:nvPr>
        </p:nvSpPr>
        <p:spPr>
          <a:xfrm>
            <a:off x="6457950" y="6400800"/>
            <a:ext cx="2686050" cy="365125"/>
          </a:xfrm>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900" dirty="0">
                <a:cs typeface="Arial" panose="020B0604020202020204" pitchFamily="34" charset="0"/>
              </a:rPr>
              <a:t>15</a:t>
            </a:fld>
            <a:endParaRPr lang="en-US" altLang="en-US" sz="900" dirty="0">
              <a:cs typeface="Arial" panose="020B0604020202020204" pitchFamily="34" charset="0"/>
            </a:endParaRPr>
          </a:p>
        </p:txBody>
      </p:sp>
      <p:sp>
        <p:nvSpPr>
          <p:cNvPr id="5" name="Text Box 4"/>
          <p:cNvSpPr txBox="1"/>
          <p:nvPr/>
        </p:nvSpPr>
        <p:spPr>
          <a:xfrm>
            <a:off x="2269172" y="132353"/>
            <a:ext cx="4777740" cy="600164"/>
          </a:xfrm>
          <a:prstGeom prst="rect">
            <a:avLst/>
          </a:prstGeom>
          <a:noFill/>
        </p:spPr>
        <p:txBody>
          <a:bodyPr wrap="square" rtlCol="0">
            <a:spAutoFit/>
          </a:bodyPr>
          <a:lstStyle/>
          <a:p>
            <a:pPr algn="ctr"/>
            <a:r>
              <a:rPr lang="vi-VN" altLang="en-US" sz="3300" b="1" dirty="0">
                <a:solidFill>
                  <a:schemeClr val="accent5">
                    <a:lumMod val="50000"/>
                  </a:schemeClr>
                </a:solidFill>
                <a:cs typeface="Arial" panose="020B0604020202020204" pitchFamily="34" charset="0"/>
              </a:rPr>
              <a:t>Tài Liệu Tham Khảo</a:t>
            </a:r>
          </a:p>
        </p:txBody>
      </p:sp>
      <p:sp>
        <p:nvSpPr>
          <p:cNvPr id="4" name="Text Box 3"/>
          <p:cNvSpPr txBox="1"/>
          <p:nvPr/>
        </p:nvSpPr>
        <p:spPr>
          <a:xfrm>
            <a:off x="291465" y="1295400"/>
            <a:ext cx="8733155" cy="4953000"/>
          </a:xfrm>
          <a:prstGeom prst="rect">
            <a:avLst/>
          </a:prstGeom>
          <a:noFill/>
        </p:spPr>
        <p:txBody>
          <a:bodyPr wrap="square" rtlCol="0" anchor="t">
            <a:noAutofit/>
          </a:bodyPr>
          <a:lstStyle/>
          <a:p>
            <a:pPr>
              <a:lnSpc>
                <a:spcPct val="150000"/>
              </a:lnSpc>
            </a:pPr>
            <a:r>
              <a:rPr lang="vi-VN" sz="1600" dirty="0"/>
              <a:t>1] M. Massé, REST API Design Rulebook, 1, Ed., Sebastopol, CA: O’Reilly Media, Inc., 2012. [2] C. L. V. Tiến, "RESTful API là gì? Nguyên tắc, cách thức hoạt động, thiết kế RESTful API chuẩn," Vietnix, 21 July 2025. [Online]. Available: </a:t>
            </a:r>
            <a:r>
              <a:rPr lang="vi-VN" sz="1600" dirty="0">
                <a:hlinkClick r:id="rId2"/>
              </a:rPr>
              <a:t>https://vietnix.vn/restful-api-la-gi/</a:t>
            </a:r>
            <a:r>
              <a:rPr lang="vi-VN" sz="1600" dirty="0"/>
              <a:t>.</a:t>
            </a:r>
            <a:endParaRPr lang="en-US" sz="1600" dirty="0"/>
          </a:p>
          <a:p>
            <a:pPr>
              <a:lnSpc>
                <a:spcPct val="150000"/>
              </a:lnSpc>
            </a:pPr>
            <a:r>
              <a:rPr lang="vi-VN" sz="1600" dirty="0"/>
              <a:t>[3] A. B. a. E. Porcello, Learning React: Functional Web Development with React and Redux, Sebastopol, CA: O’Reilly Media, Inc., 2017. </a:t>
            </a:r>
            <a:endParaRPr lang="en-US" sz="1600" dirty="0"/>
          </a:p>
          <a:p>
            <a:pPr>
              <a:lnSpc>
                <a:spcPct val="150000"/>
              </a:lnSpc>
            </a:pPr>
            <a:r>
              <a:rPr lang="vi-VN" sz="1600" dirty="0"/>
              <a:t>[4] N. Đ. Hòa, "Tailwind CSS Là Gì? Cách cài đặt và sử dụng Tailwind CSS chi tiết," LANIT JSC, 9 9 2025. [Online]. Available: https://lanit.com.vn/tailwind-css-la gi.html. [Accessed 13 12 2025]. </a:t>
            </a:r>
            <a:endParaRPr lang="en-US" sz="1600" dirty="0"/>
          </a:p>
          <a:p>
            <a:pPr>
              <a:lnSpc>
                <a:spcPct val="150000"/>
              </a:lnSpc>
            </a:pPr>
            <a:r>
              <a:rPr lang="vi-VN" sz="1600" dirty="0"/>
              <a:t>[5] B. Semah, "What Exactly is Node.js? Explained for Beginners," freeCodeCamp, 5 12 2022. [Online]. Available: https://www.freecodecamp.org/news/what-is-node js/?referrer=grok.com. [Accessed 18 12 2025]. </a:t>
            </a:r>
            <a:endParaRPr lang="en-US" sz="1600" i="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txBox="1">
            <a:spLocks noGrp="1"/>
          </p:cNvSpPr>
          <p:nvPr>
            <p:ph type="sldNum" sz="quarter" idx="4"/>
          </p:nvPr>
        </p:nvSpPr>
        <p:spPr>
          <a:xfrm>
            <a:off x="6457950" y="6400800"/>
            <a:ext cx="2686050" cy="365125"/>
          </a:xfrm>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900" dirty="0"/>
              <a:t>16</a:t>
            </a:fld>
            <a:endParaRPr lang="en-US" altLang="en-US" sz="900" dirty="0"/>
          </a:p>
        </p:txBody>
      </p:sp>
      <p:sp>
        <p:nvSpPr>
          <p:cNvPr id="3" name="Text Box 2"/>
          <p:cNvSpPr txBox="1"/>
          <p:nvPr/>
        </p:nvSpPr>
        <p:spPr>
          <a:xfrm>
            <a:off x="3030855" y="936625"/>
            <a:ext cx="3048000" cy="368300"/>
          </a:xfrm>
          <a:prstGeom prst="rect">
            <a:avLst/>
          </a:prstGeom>
          <a:noFill/>
        </p:spPr>
        <p:txBody>
          <a:bodyPr wrap="square" rtlCol="0">
            <a:spAutoFit/>
          </a:bodyPr>
          <a:lstStyle/>
          <a:p>
            <a:endParaRPr lang="en-US"/>
          </a:p>
        </p:txBody>
      </p:sp>
      <p:sp>
        <p:nvSpPr>
          <p:cNvPr id="5" name="Google Shape;1561;p116">
            <a:extLst>
              <a:ext uri="{FF2B5EF4-FFF2-40B4-BE49-F238E27FC236}">
                <a16:creationId xmlns:a16="http://schemas.microsoft.com/office/drawing/2014/main" id="{82711071-4259-787D-5A69-EA18668972E2}"/>
              </a:ext>
            </a:extLst>
          </p:cNvPr>
          <p:cNvSpPr txBox="1">
            <a:spLocks noGrp="1"/>
          </p:cNvSpPr>
          <p:nvPr>
            <p:ph type="title"/>
          </p:nvPr>
        </p:nvSpPr>
        <p:spPr>
          <a:xfrm>
            <a:off x="1839237" y="2928900"/>
            <a:ext cx="5465526" cy="1000200"/>
          </a:xfrm>
          <a:prstGeom prst="rect">
            <a:avLst/>
          </a:prstGeom>
        </p:spPr>
        <p:txBody>
          <a:bodyPr spcFirstLastPara="1" wrap="square" lIns="91425" tIns="91425" rIns="91425" bIns="91425" anchor="ctr" anchorCtr="0">
            <a:noAutofit/>
          </a:bodyPr>
          <a:lstStyle/>
          <a:p>
            <a:pPr algn="ctr"/>
            <a:r>
              <a:rPr lang="en" sz="4000" dirty="0">
                <a:latin typeface="+mj-lt"/>
              </a:rPr>
              <a:t>Cảm ơn đã lắng nghe!</a:t>
            </a:r>
            <a:endParaRPr sz="40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549&quot;&gt;&lt;property id=&quot;20148&quot; value=&quot;5&quot;/&gt;&lt;property id=&quot;20300&quot; value=&quot;Slide 2 - &amp;quot;Kỹ thuật ước lượng và đánh giá&amp;#x0D;&amp;#x0A;Ước lượng khoa học&amp;quot;&quot;/&gt;&lt;property id=&quot;20307&quot; value=&quot;257&quot;/&gt;&lt;/object&gt;&lt;object type=&quot;3&quot; unique_id=&quot;10551&quot;&gt;&lt;property id=&quot;20148&quot; value=&quot;5&quot;/&gt;&lt;property id=&quot;20300&quot; value=&quot;Slide 3 - &amp;quot;Các kỹ thuật làm ước lượng&amp;quot;&quot;/&gt;&lt;property id=&quot;20307&quot; value=&quot;259&quot;/&gt;&lt;/object&gt;&lt;object type=&quot;3&quot; unique_id=&quot;10552&quot;&gt;&lt;property id=&quot;20148&quot; value=&quot;5&quot;/&gt;&lt;property id=&quot;20300&quot; value=&quot;Slide 4 - &amp;quot;Các kỹ thuật làm ước lượng&amp;quot;&quot;/&gt;&lt;property id=&quot;20307&quot; value=&quot;260&quot;/&gt;&lt;/object&gt;&lt;object type=&quot;3&quot; unique_id=&quot;10553&quot;&gt;&lt;property id=&quot;20148&quot; value=&quot;5&quot;/&gt;&lt;property id=&quot;20300&quot; value=&quot;Slide 5 - &amp;quot;Các kỹ thuật làm ước lượng&amp;quot;&quot;/&gt;&lt;property id=&quot;20307&quot; value=&quot;261&quot;/&gt;&lt;/object&gt;&lt;object type=&quot;3&quot; unique_id=&quot;10554&quot;&gt;&lt;property id=&quot;20148&quot; value=&quot;5&quot;/&gt;&lt;property id=&quot;20300&quot; value=&quot;Slide 6 - &amp;quot;Các kỹ thuật làm ước lượng&amp;quot;&quot;/&gt;&lt;property id=&quot;20307&quot; value=&quot;262&quot;/&gt;&lt;/object&gt;&lt;object type=&quot;3&quot; unique_id=&quot;10555&quot;&gt;&lt;property id=&quot;20148&quot; value=&quot;5&quot;/&gt;&lt;property id=&quot;20300&quot; value=&quot;Slide 7 - &amp;quot;Các kỹ thuật làm ước lượng&amp;quot;&quot;/&gt;&lt;property id=&quot;20307&quot; value=&quot;263&quot;/&gt;&lt;/object&gt;&lt;object type=&quot;3&quot; unique_id=&quot;10556&quot;&gt;&lt;property id=&quot;20148&quot; value=&quot;5&quot;/&gt;&lt;property id=&quot;20300&quot; value=&quot;Slide 8 - &amp;quot;Các kỹ thuật làm ước lượng&amp;quot;&quot;/&gt;&lt;property id=&quot;20307&quot; value=&quot;264&quot;/&gt;&lt;/object&gt;&lt;object type=&quot;3&quot; unique_id=&quot;10557&quot;&gt;&lt;property id=&quot;20148&quot; value=&quot;5&quot;/&gt;&lt;property id=&quot;20300&quot; value=&quot;Slide 9 - &amp;quot;Các kỹ thuật làm ước lượng&amp;quot;&quot;/&gt;&lt;property id=&quot;20307&quot; value=&quot;265&quot;/&gt;&lt;/object&gt;&lt;object type=&quot;3&quot; unique_id=&quot;10558&quot;&gt;&lt;property id=&quot;20148&quot; value=&quot;5&quot;/&gt;&lt;property id=&quot;20300&quot; value=&quot;Slide 10 - &amp;quot;Các kỹ thuật làm ước lượng&amp;quot;&quot;/&gt;&lt;property id=&quot;20307&quot; value=&quot;266&quot;/&gt;&lt;/object&gt;&lt;object type=&quot;3&quot; unique_id=&quot;10559&quot;&gt;&lt;property id=&quot;20148&quot; value=&quot;5&quot;/&gt;&lt;property id=&quot;20300&quot; value=&quot;Slide 11 - &amp;quot;Các kỹ thuật làm ước lượng&amp;quot;&quot;/&gt;&lt;property id=&quot;20307&quot; value=&quot;267&quot;/&gt;&lt;/object&gt;&lt;object type=&quot;3&quot; unique_id=&quot;10560&quot;&gt;&lt;property id=&quot;20148&quot; value=&quot;5&quot;/&gt;&lt;property id=&quot;20300&quot; value=&quot;Slide 12 - &amp;quot;Các bước khi làm ước lượng&amp;quot;&quot;/&gt;&lt;property id=&quot;20307&quot; value=&quot;268&quot;/&gt;&lt;/object&gt;&lt;object type=&quot;3&quot; unique_id=&quot;10561&quot;&gt;&lt;property id=&quot;20148&quot; value=&quot;5&quot;/&gt;&lt;property id=&quot;20300&quot; value=&quot;Slide 13 - &amp;quot;Các bước khi làm ước lượng&amp;quot;&quot;/&gt;&lt;property id=&quot;20307&quot; value=&quot;269&quot;/&gt;&lt;/object&gt;&lt;object type=&quot;3&quot; unique_id=&quot;10563&quot;&gt;&lt;property id=&quot;20148&quot; value=&quot;5&quot;/&gt;&lt;property id=&quot;20300&quot; value=&quot;Slide 14 - &amp;quot;Các bước khi làm ước lượng&amp;quot;&quot;/&gt;&lt;property id=&quot;20307&quot; value=&quot;271&quot;/&gt;&lt;/object&gt;&lt;object type=&quot;3&quot; unique_id=&quot;10565&quot;&gt;&lt;property id=&quot;20148&quot; value=&quot;5&quot;/&gt;&lt;property id=&quot;20300&quot; value=&quot;Slide 15 - &amp;quot;Một số hướng dẫn trợ giúp ước lượng thời gian cho dự án CNTT&amp;quot;&quot;/&gt;&lt;property id=&quot;20307&quot; value=&quot;273&quot;/&gt;&lt;/object&gt;&lt;object type=&quot;3&quot; unique_id=&quot;10566&quot;&gt;&lt;property id=&quot;20148&quot; value=&quot;5&quot;/&gt;&lt;property id=&quot;20300&quot; value=&quot;Slide 16 - &amp;quot;Một số hướng dẫn trợ giúp ước lượng thời gian cho dự án CNTT&amp;quot;&quot;/&gt;&lt;property id=&quot;20307&quot; value=&quot;274&quot;/&gt;&lt;/object&gt;&lt;object type=&quot;3&quot; unique_id=&quot;10567&quot;&gt;&lt;property id=&quot;20148&quot; value=&quot;5&quot;/&gt;&lt;property id=&quot;20300&quot; value=&quot;Slide 17 - &amp;quot;Một số hướng dẫn trợ giúp ước lượng thời gian cho dự án CNTT&amp;quot;&quot;/&gt;&lt;property id=&quot;20307&quot; value=&quot;275&quot;/&gt;&lt;/object&gt;&lt;object type=&quot;3&quot; unique_id=&quot;10568&quot;&gt;&lt;property id=&quot;20148&quot; value=&quot;5&quot;/&gt;&lt;property id=&quot;20300&quot; value=&quot;Slide 18 - &amp;quot;Một số hướng dẫn trợ giúp ước lượng thời gian cho dự án CNTT&amp;quot;&quot;/&gt;&lt;property id=&quot;20307&quot; value=&quot;276&quot;/&gt;&lt;/object&gt;&lt;object type=&quot;3&quot; unique_id=&quot;10591&quot;&gt;&lt;property id=&quot;20148&quot; value=&quot;5&quot;/&gt;&lt;property id=&quot;20300&quot; value=&quot;Slide 19 - &amp;quot;Ước lượng phi khoa học&amp;quot;&quot;/&gt;&lt;property id=&quot;20307&quot; value=&quot;277&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1233</Words>
  <Application>Microsoft Office PowerPoint</Application>
  <PresentationFormat>On-screen Show (4:3)</PresentationFormat>
  <Paragraphs>100</Paragraphs>
  <Slides>16</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Arial</vt:lpstr>
      <vt:lpstr>Calibri</vt:lpstr>
      <vt:lpstr>Calibri Light</vt:lpstr>
      <vt:lpstr>Office Theme</vt:lpstr>
      <vt:lpstr>1_Office Theme</vt:lpstr>
      <vt:lpstr>PowerPoint Presentation</vt:lpstr>
      <vt:lpstr>Nội Dung Báo Cáo</vt:lpstr>
      <vt:lpstr>1. Tổng quan đề tài</vt:lpstr>
      <vt:lpstr>2. Lý do chọn đề tài</vt:lpstr>
      <vt:lpstr>2. Mục tiêu nghiên cứu</vt:lpstr>
      <vt:lpstr>3. Nội dung và đối tượng nghiên cứu</vt:lpstr>
      <vt:lpstr> 4. Hiện thực hóa nghiên cứu</vt:lpstr>
      <vt:lpstr>4.2 Mô hình thực thể kết hợp (ERD) </vt:lpstr>
      <vt:lpstr>4.3 Mô hình dữ liệu vật lý </vt:lpstr>
      <vt:lpstr>4.4 Mô hình lược đồ cơ sở dữ liệu</vt:lpstr>
      <vt:lpstr>5. Kết quả nghiên cứu  </vt:lpstr>
      <vt:lpstr>5. Kết quả nghiên cứu (tiếp) </vt:lpstr>
      <vt:lpstr>6. Kết quả nghiên cứu</vt:lpstr>
      <vt:lpstr>7. Kết luận</vt:lpstr>
      <vt:lpstr>PowerPoint Presentation</vt:lpstr>
      <vt:lpstr>Cảm ơn đã lắng nghe!</vt:lpstr>
    </vt:vector>
  </TitlesOfParts>
  <Company>Tel : 0918085180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 tho</dc:creator>
  <cp:lastModifiedBy>tho tho</cp:lastModifiedBy>
  <cp:revision>29</cp:revision>
  <dcterms:created xsi:type="dcterms:W3CDTF">2011-07-26T06:52:00Z</dcterms:created>
  <dcterms:modified xsi:type="dcterms:W3CDTF">2026-01-09T02:17:19Z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6B6DFE651E814C2AAD655DA77EDF556A_13</vt:lpwstr>
  </property>
  <property fmtid="{D5CDD505-2E9C-101B-9397-08002B2CF9AE}" pid="3" name="KSOProductBuildVer">
    <vt:lpwstr>1033-12.2.0.23155</vt:lpwstr>
  </property>
</Properties>
</file>